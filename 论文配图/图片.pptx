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流程图: 过程 5"/>
          <p:cNvSpPr/>
          <p:nvPr/>
        </p:nvSpPr>
        <p:spPr>
          <a:xfrm>
            <a:off x="24765" y="1644650"/>
            <a:ext cx="4082415" cy="3811270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同侧圆角矩形 6"/>
          <p:cNvSpPr/>
          <p:nvPr/>
        </p:nvSpPr>
        <p:spPr>
          <a:xfrm>
            <a:off x="24765" y="1078230"/>
            <a:ext cx="4082415" cy="574675"/>
          </a:xfrm>
          <a:prstGeom prst="round2Same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Task1 Noun 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→ Classifer</a:t>
            </a:r>
            <a:r>
              <a:rPr lang="en-US" altLang="zh-CN"/>
              <a:t> 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0" y="3109595"/>
            <a:ext cx="579120" cy="747395"/>
          </a:xfrm>
          <a:prstGeom prst="rect">
            <a:avLst/>
          </a:prstGeom>
        </p:spPr>
      </p:pic>
      <p:sp>
        <p:nvSpPr>
          <p:cNvPr id="13" name="流程图: 可选过程 12"/>
          <p:cNvSpPr/>
          <p:nvPr/>
        </p:nvSpPr>
        <p:spPr>
          <a:xfrm>
            <a:off x="981710" y="3223260"/>
            <a:ext cx="1095375" cy="51181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中位词：苹果（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apple</a:t>
            </a:r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）</a:t>
            </a:r>
            <a:endParaRPr lang="zh-CN" altLang="en-US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18" name="流程图: 过程 17"/>
          <p:cNvSpPr/>
          <p:nvPr/>
        </p:nvSpPr>
        <p:spPr>
          <a:xfrm>
            <a:off x="2644140" y="2712720"/>
            <a:ext cx="1074420" cy="245745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流程图: 过程 19"/>
          <p:cNvSpPr/>
          <p:nvPr/>
        </p:nvSpPr>
        <p:spPr>
          <a:xfrm>
            <a:off x="2644140" y="3126105"/>
            <a:ext cx="630555" cy="245745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流程图: 过程 20"/>
          <p:cNvSpPr/>
          <p:nvPr/>
        </p:nvSpPr>
        <p:spPr>
          <a:xfrm>
            <a:off x="2644140" y="3538855"/>
            <a:ext cx="219075" cy="265430"/>
          </a:xfrm>
          <a:prstGeom prst="flowChartProcess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流程图: 过程 21"/>
          <p:cNvSpPr/>
          <p:nvPr/>
        </p:nvSpPr>
        <p:spPr>
          <a:xfrm>
            <a:off x="2644140" y="3971290"/>
            <a:ext cx="81280" cy="277495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流程图: 可选过程 22"/>
          <p:cNvSpPr/>
          <p:nvPr/>
        </p:nvSpPr>
        <p:spPr>
          <a:xfrm>
            <a:off x="281305" y="4685665"/>
            <a:ext cx="3506470" cy="648335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accent1"/>
                </a:solidFill>
              </a:rPr>
              <a:t>Focus</a:t>
            </a:r>
            <a:r>
              <a:rPr lang="en-US" altLang="zh-CN" sz="1400">
                <a:solidFill>
                  <a:schemeClr val="accent1"/>
                </a:solidFill>
              </a:rPr>
              <a:t>:How noun specificity affects classifer choice and variability</a:t>
            </a:r>
            <a:endParaRPr lang="en-US" altLang="zh-CN" sz="1400">
              <a:solidFill>
                <a:schemeClr val="accent1"/>
              </a:solidFill>
            </a:endParaRPr>
          </a:p>
        </p:txBody>
      </p:sp>
      <p:sp>
        <p:nvSpPr>
          <p:cNvPr id="24" name="右箭头 23"/>
          <p:cNvSpPr/>
          <p:nvPr/>
        </p:nvSpPr>
        <p:spPr>
          <a:xfrm>
            <a:off x="2114550" y="3380740"/>
            <a:ext cx="208280" cy="1587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/>
        </p:nvSpPr>
        <p:spPr>
          <a:xfrm>
            <a:off x="703580" y="3420745"/>
            <a:ext cx="208280" cy="1587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935990" y="1714500"/>
            <a:ext cx="2196465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accent1"/>
                </a:solidFill>
              </a:rPr>
              <a:t>(Effect of  Noun Specificity</a:t>
            </a:r>
            <a:r>
              <a:rPr lang="en-US" altLang="zh-CN" sz="1200" b="1">
                <a:solidFill>
                  <a:schemeClr val="accent1"/>
                </a:solidFill>
              </a:rPr>
              <a:t>)</a:t>
            </a:r>
            <a:endParaRPr lang="en-US" altLang="zh-CN" sz="1200" b="1">
              <a:solidFill>
                <a:schemeClr val="accent1"/>
              </a:solidFill>
            </a:endParaRPr>
          </a:p>
        </p:txBody>
      </p:sp>
      <p:sp>
        <p:nvSpPr>
          <p:cNvPr id="31" name="流程图: 可选过程 30"/>
          <p:cNvSpPr/>
          <p:nvPr/>
        </p:nvSpPr>
        <p:spPr>
          <a:xfrm>
            <a:off x="981710" y="2592705"/>
            <a:ext cx="1096010" cy="51181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上位词：水果（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fruit</a:t>
            </a:r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）</a:t>
            </a:r>
            <a:endParaRPr lang="zh-CN" altLang="en-US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32" name="流程图: 可选过程 31"/>
          <p:cNvSpPr/>
          <p:nvPr/>
        </p:nvSpPr>
        <p:spPr>
          <a:xfrm>
            <a:off x="981710" y="3853815"/>
            <a:ext cx="1095375" cy="51181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下位词：红富士（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Fuji apple</a:t>
            </a:r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）</a:t>
            </a:r>
            <a:endParaRPr lang="zh-CN" altLang="en-US" sz="900" b="1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54100" y="2263775"/>
            <a:ext cx="1177925" cy="248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/>
              <a:t>Noun</a:t>
            </a:r>
            <a:r>
              <a:rPr lang="zh-CN" altLang="en-US" sz="1000" b="1"/>
              <a:t>（</a:t>
            </a:r>
            <a:r>
              <a:rPr lang="en-US" altLang="zh-CN" sz="1000" b="1"/>
              <a:t>3 levels</a:t>
            </a:r>
            <a:r>
              <a:rPr lang="zh-CN" altLang="en-US" sz="1000" b="1"/>
              <a:t>）</a:t>
            </a:r>
            <a:endParaRPr lang="zh-CN" altLang="en-US" sz="1000" b="1"/>
          </a:p>
        </p:txBody>
      </p:sp>
      <p:sp>
        <p:nvSpPr>
          <p:cNvPr id="34" name="文本框 33"/>
          <p:cNvSpPr txBox="1"/>
          <p:nvPr/>
        </p:nvSpPr>
        <p:spPr>
          <a:xfrm>
            <a:off x="2540635" y="2263775"/>
            <a:ext cx="1177925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/>
              <a:t>Classifier Choices</a:t>
            </a:r>
            <a:endParaRPr lang="en-US" altLang="zh-CN" sz="1000" b="1"/>
          </a:p>
          <a:p>
            <a:pPr algn="ctr"/>
            <a:r>
              <a:rPr lang="en-US" altLang="zh-CN" sz="1000" b="1"/>
              <a:t>(Distrbution)</a:t>
            </a:r>
            <a:endParaRPr lang="en-US" altLang="zh-CN" sz="1000" b="1"/>
          </a:p>
        </p:txBody>
      </p:sp>
      <p:sp>
        <p:nvSpPr>
          <p:cNvPr id="35" name="文本框 34"/>
          <p:cNvSpPr txBox="1"/>
          <p:nvPr/>
        </p:nvSpPr>
        <p:spPr>
          <a:xfrm>
            <a:off x="2322830" y="2750820"/>
            <a:ext cx="204470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/>
              <a:t>个</a:t>
            </a:r>
            <a:endParaRPr lang="zh-CN" altLang="en-US" sz="1000" b="1"/>
          </a:p>
        </p:txBody>
      </p:sp>
      <p:sp>
        <p:nvSpPr>
          <p:cNvPr id="37" name="文本框 36"/>
          <p:cNvSpPr txBox="1"/>
          <p:nvPr/>
        </p:nvSpPr>
        <p:spPr>
          <a:xfrm>
            <a:off x="2322830" y="3137535"/>
            <a:ext cx="204470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/>
              <a:t>颗</a:t>
            </a:r>
            <a:endParaRPr lang="zh-CN" altLang="en-US" sz="1000" b="1"/>
          </a:p>
        </p:txBody>
      </p:sp>
      <p:sp>
        <p:nvSpPr>
          <p:cNvPr id="38" name="文本框 37"/>
          <p:cNvSpPr txBox="1"/>
          <p:nvPr/>
        </p:nvSpPr>
        <p:spPr>
          <a:xfrm>
            <a:off x="2322830" y="3560445"/>
            <a:ext cx="204470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/>
              <a:t>枚</a:t>
            </a:r>
            <a:endParaRPr lang="zh-CN" altLang="en-US" sz="1000" b="1"/>
          </a:p>
        </p:txBody>
      </p:sp>
      <p:sp>
        <p:nvSpPr>
          <p:cNvPr id="39" name="文本框 38"/>
          <p:cNvSpPr txBox="1"/>
          <p:nvPr/>
        </p:nvSpPr>
        <p:spPr>
          <a:xfrm>
            <a:off x="2094230" y="3983355"/>
            <a:ext cx="631190" cy="258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/>
              <a:t>其他</a:t>
            </a:r>
            <a:endParaRPr lang="zh-CN" altLang="en-US" sz="1000" b="1"/>
          </a:p>
        </p:txBody>
      </p:sp>
      <p:sp>
        <p:nvSpPr>
          <p:cNvPr id="40" name="文本框 39"/>
          <p:cNvSpPr txBox="1"/>
          <p:nvPr/>
        </p:nvSpPr>
        <p:spPr>
          <a:xfrm>
            <a:off x="3718560" y="2712720"/>
            <a:ext cx="462915" cy="245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60%</a:t>
            </a:r>
            <a:endParaRPr lang="en-US" altLang="zh-CN" sz="1000" b="1"/>
          </a:p>
        </p:txBody>
      </p:sp>
      <p:sp>
        <p:nvSpPr>
          <p:cNvPr id="41" name="文本框 40"/>
          <p:cNvSpPr txBox="1"/>
          <p:nvPr/>
        </p:nvSpPr>
        <p:spPr>
          <a:xfrm>
            <a:off x="3718560" y="3113405"/>
            <a:ext cx="462915" cy="245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30%</a:t>
            </a:r>
            <a:endParaRPr lang="en-US" altLang="zh-CN" sz="1000" b="1"/>
          </a:p>
        </p:txBody>
      </p:sp>
      <p:sp>
        <p:nvSpPr>
          <p:cNvPr id="42" name="文本框 41"/>
          <p:cNvSpPr txBox="1"/>
          <p:nvPr/>
        </p:nvSpPr>
        <p:spPr>
          <a:xfrm>
            <a:off x="3718560" y="3541395"/>
            <a:ext cx="462915" cy="245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8%</a:t>
            </a:r>
            <a:endParaRPr lang="en-US" altLang="zh-CN" sz="1000" b="1"/>
          </a:p>
        </p:txBody>
      </p:sp>
      <p:sp>
        <p:nvSpPr>
          <p:cNvPr id="43" name="文本框 42"/>
          <p:cNvSpPr txBox="1"/>
          <p:nvPr/>
        </p:nvSpPr>
        <p:spPr>
          <a:xfrm>
            <a:off x="3718560" y="3955415"/>
            <a:ext cx="462915" cy="245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2%</a:t>
            </a:r>
            <a:endParaRPr lang="en-US" altLang="zh-CN" sz="1000" b="1"/>
          </a:p>
        </p:txBody>
      </p:sp>
      <p:sp>
        <p:nvSpPr>
          <p:cNvPr id="44" name="流程图: 过程 43"/>
          <p:cNvSpPr/>
          <p:nvPr/>
        </p:nvSpPr>
        <p:spPr>
          <a:xfrm>
            <a:off x="4181475" y="1652905"/>
            <a:ext cx="3896995" cy="38112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同侧圆角矩形 44"/>
          <p:cNvSpPr/>
          <p:nvPr/>
        </p:nvSpPr>
        <p:spPr>
          <a:xfrm>
            <a:off x="4181475" y="1078230"/>
            <a:ext cx="3896995" cy="574675"/>
          </a:xfrm>
          <a:prstGeom prst="round2Same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Task2 Classifier 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→ Noun</a:t>
            </a:r>
            <a:r>
              <a:rPr lang="en-US" altLang="zh-CN"/>
              <a:t> </a:t>
            </a:r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1170" y="3117850"/>
            <a:ext cx="553720" cy="747395"/>
          </a:xfrm>
          <a:prstGeom prst="rect">
            <a:avLst/>
          </a:prstGeom>
        </p:spPr>
      </p:pic>
      <p:sp>
        <p:nvSpPr>
          <p:cNvPr id="52" name="流程图: 可选过程 51"/>
          <p:cNvSpPr/>
          <p:nvPr/>
        </p:nvSpPr>
        <p:spPr>
          <a:xfrm>
            <a:off x="4438015" y="4693920"/>
            <a:ext cx="3346450" cy="64833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accent4">
                    <a:lumMod val="50000"/>
                  </a:schemeClr>
                </a:solidFill>
              </a:rPr>
              <a:t>Focus</a:t>
            </a:r>
            <a:r>
              <a:rPr lang="en-US" altLang="zh-CN" sz="1400">
                <a:solidFill>
                  <a:schemeClr val="accent4">
                    <a:lumMod val="50000"/>
                  </a:schemeClr>
                </a:solidFill>
              </a:rPr>
              <a:t>:Do different classifiers induce</a:t>
            </a:r>
            <a:endParaRPr lang="en-US" altLang="zh-CN" sz="1400">
              <a:solidFill>
                <a:schemeClr val="accent4">
                  <a:lumMod val="50000"/>
                </a:schemeClr>
              </a:solidFill>
            </a:endParaRPr>
          </a:p>
          <a:p>
            <a:pPr algn="ctr"/>
            <a:r>
              <a:rPr lang="en-US" altLang="zh-CN" sz="1400">
                <a:solidFill>
                  <a:schemeClr val="accent4">
                    <a:lumMod val="50000"/>
                  </a:schemeClr>
                </a:solidFill>
              </a:rPr>
              <a:t>different conceptualizations?</a:t>
            </a:r>
            <a:endParaRPr lang="en-US" altLang="zh-CN" sz="140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3" name="右箭头 52"/>
          <p:cNvSpPr/>
          <p:nvPr/>
        </p:nvSpPr>
        <p:spPr>
          <a:xfrm>
            <a:off x="6271260" y="3388995"/>
            <a:ext cx="199390" cy="15875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右箭头 53"/>
          <p:cNvSpPr/>
          <p:nvPr/>
        </p:nvSpPr>
        <p:spPr>
          <a:xfrm>
            <a:off x="4860290" y="3429000"/>
            <a:ext cx="199390" cy="15875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5092700" y="1722755"/>
            <a:ext cx="2096770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accent4">
                    <a:lumMod val="50000"/>
                  </a:schemeClr>
                </a:solidFill>
              </a:rPr>
              <a:t>(Conceptualization Effect</a:t>
            </a:r>
            <a:r>
              <a:rPr lang="en-US" altLang="zh-CN" sz="1200" b="1">
                <a:solidFill>
                  <a:schemeClr val="accent4">
                    <a:lumMod val="50000"/>
                  </a:schemeClr>
                </a:solidFill>
              </a:rPr>
              <a:t>)</a:t>
            </a:r>
            <a:endParaRPr lang="en-US" altLang="zh-CN" sz="1200" b="1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181475" y="2313305"/>
            <a:ext cx="1000125" cy="248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/>
              <a:t>Visual Stimulus</a:t>
            </a:r>
            <a:endParaRPr lang="en-US" altLang="zh-CN" sz="1000" b="1"/>
          </a:p>
        </p:txBody>
      </p:sp>
      <p:sp>
        <p:nvSpPr>
          <p:cNvPr id="57" name="流程图: 可选过程 56"/>
          <p:cNvSpPr/>
          <p:nvPr/>
        </p:nvSpPr>
        <p:spPr>
          <a:xfrm>
            <a:off x="5079365" y="2752090"/>
            <a:ext cx="1053465" cy="43497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一个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_____</a:t>
            </a:r>
            <a:endParaRPr lang="en-US" altLang="zh-CN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5138420" y="2313305"/>
            <a:ext cx="1124585" cy="248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/>
              <a:t>Classifier Cues</a:t>
            </a:r>
            <a:endParaRPr lang="en-US" altLang="zh-CN" sz="1000" b="1"/>
          </a:p>
        </p:txBody>
      </p:sp>
      <p:sp>
        <p:nvSpPr>
          <p:cNvPr id="60" name="文本框 59"/>
          <p:cNvSpPr txBox="1"/>
          <p:nvPr/>
        </p:nvSpPr>
        <p:spPr>
          <a:xfrm>
            <a:off x="6697345" y="2272030"/>
            <a:ext cx="1124585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/>
              <a:t>Noun Generation</a:t>
            </a:r>
            <a:endParaRPr lang="en-US" altLang="zh-CN" sz="1000" b="1"/>
          </a:p>
          <a:p>
            <a:pPr algn="ctr"/>
            <a:r>
              <a:rPr lang="en-US" altLang="zh-CN" sz="1000" b="1"/>
              <a:t>(Examples)</a:t>
            </a:r>
            <a:endParaRPr lang="en-US" altLang="zh-CN" sz="1000" b="1"/>
          </a:p>
        </p:txBody>
      </p:sp>
      <p:sp>
        <p:nvSpPr>
          <p:cNvPr id="69" name="流程图: 可选过程 68"/>
          <p:cNvSpPr/>
          <p:nvPr/>
        </p:nvSpPr>
        <p:spPr>
          <a:xfrm>
            <a:off x="5086350" y="3289935"/>
            <a:ext cx="1053465" cy="43497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一颗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_____</a:t>
            </a:r>
            <a:endParaRPr lang="en-US" altLang="zh-CN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70" name="流程图: 可选过程 69"/>
          <p:cNvSpPr/>
          <p:nvPr/>
        </p:nvSpPr>
        <p:spPr>
          <a:xfrm>
            <a:off x="5090160" y="3827780"/>
            <a:ext cx="1053465" cy="43497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一枚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_____</a:t>
            </a:r>
            <a:endParaRPr lang="en-US" altLang="zh-CN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6624320" y="2682875"/>
            <a:ext cx="1244600" cy="17957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6672580" y="2861310"/>
            <a:ext cx="1198880" cy="428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 b="1"/>
              <a:t>一个</a:t>
            </a:r>
            <a:r>
              <a:rPr lang="en-US" altLang="zh-CN" sz="900" b="1"/>
              <a:t> _____</a:t>
            </a:r>
            <a:r>
              <a:rPr lang="zh-CN" altLang="en-US" sz="900" b="1"/>
              <a:t>：</a:t>
            </a:r>
            <a:endParaRPr lang="zh-CN" altLang="en-US" sz="900" b="1"/>
          </a:p>
          <a:p>
            <a:r>
              <a:rPr lang="zh-CN" altLang="en-US" sz="900" b="1"/>
              <a:t>水果、物品、东西</a:t>
            </a:r>
            <a:r>
              <a:rPr lang="en-US" altLang="zh-CN" sz="900" b="1"/>
              <a:t>…</a:t>
            </a:r>
            <a:endParaRPr lang="en-US" altLang="zh-CN" sz="900" b="1"/>
          </a:p>
        </p:txBody>
      </p:sp>
      <p:sp>
        <p:nvSpPr>
          <p:cNvPr id="74" name="文本框 73"/>
          <p:cNvSpPr txBox="1"/>
          <p:nvPr/>
        </p:nvSpPr>
        <p:spPr>
          <a:xfrm>
            <a:off x="6697345" y="3380105"/>
            <a:ext cx="1198880" cy="428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 b="1"/>
              <a:t>一颗</a:t>
            </a:r>
            <a:r>
              <a:rPr lang="en-US" altLang="zh-CN" sz="900" b="1"/>
              <a:t> _____</a:t>
            </a:r>
            <a:r>
              <a:rPr lang="zh-CN" altLang="en-US" sz="900" b="1"/>
              <a:t>：</a:t>
            </a:r>
            <a:endParaRPr lang="zh-CN" altLang="en-US" sz="900" b="1"/>
          </a:p>
          <a:p>
            <a:r>
              <a:rPr lang="zh-CN" altLang="en-US" sz="900" b="1"/>
              <a:t>苹果、珠子、糖</a:t>
            </a:r>
            <a:r>
              <a:rPr lang="en-US" altLang="zh-CN" sz="900" b="1"/>
              <a:t>…</a:t>
            </a:r>
            <a:endParaRPr lang="en-US" altLang="zh-CN" sz="900" b="1"/>
          </a:p>
        </p:txBody>
      </p:sp>
      <p:sp>
        <p:nvSpPr>
          <p:cNvPr id="75" name="文本框 74"/>
          <p:cNvSpPr txBox="1"/>
          <p:nvPr/>
        </p:nvSpPr>
        <p:spPr>
          <a:xfrm>
            <a:off x="6697345" y="3865245"/>
            <a:ext cx="1198880" cy="428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 b="1"/>
              <a:t>一枚</a:t>
            </a:r>
            <a:r>
              <a:rPr lang="en-US" altLang="zh-CN" sz="900" b="1"/>
              <a:t> _____</a:t>
            </a:r>
            <a:r>
              <a:rPr lang="zh-CN" altLang="en-US" sz="900" b="1"/>
              <a:t>：</a:t>
            </a:r>
            <a:endParaRPr lang="zh-CN" altLang="en-US" sz="900" b="1"/>
          </a:p>
          <a:p>
            <a:r>
              <a:rPr lang="zh-CN" altLang="en-US" sz="900" b="1"/>
              <a:t>硬币、棋子、子弹</a:t>
            </a:r>
            <a:r>
              <a:rPr lang="en-US" altLang="zh-CN" sz="900" b="1"/>
              <a:t>…</a:t>
            </a:r>
            <a:endParaRPr lang="en-US" altLang="zh-CN" sz="900" b="1"/>
          </a:p>
        </p:txBody>
      </p:sp>
      <p:sp>
        <p:nvSpPr>
          <p:cNvPr id="92" name="流程图: 过程 91"/>
          <p:cNvSpPr/>
          <p:nvPr/>
        </p:nvSpPr>
        <p:spPr>
          <a:xfrm>
            <a:off x="8168640" y="1644650"/>
            <a:ext cx="3949700" cy="38112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同侧圆角矩形 92"/>
          <p:cNvSpPr/>
          <p:nvPr/>
        </p:nvSpPr>
        <p:spPr>
          <a:xfrm>
            <a:off x="8168640" y="1078230"/>
            <a:ext cx="3949700" cy="574675"/>
          </a:xfrm>
          <a:prstGeom prst="round2Same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Task3 Free Referential Generation</a:t>
            </a:r>
            <a:r>
              <a:rPr lang="en-US" altLang="zh-CN"/>
              <a:t> </a:t>
            </a:r>
            <a:endParaRPr lang="zh-CN" altLang="en-US"/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880" y="3085465"/>
            <a:ext cx="560705" cy="747395"/>
          </a:xfrm>
          <a:prstGeom prst="rect">
            <a:avLst/>
          </a:prstGeom>
        </p:spPr>
      </p:pic>
      <p:sp>
        <p:nvSpPr>
          <p:cNvPr id="95" name="流程图: 可选过程 94"/>
          <p:cNvSpPr/>
          <p:nvPr/>
        </p:nvSpPr>
        <p:spPr>
          <a:xfrm>
            <a:off x="8425180" y="4685665"/>
            <a:ext cx="3392170" cy="648335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accent2">
                    <a:lumMod val="50000"/>
                  </a:schemeClr>
                </a:solidFill>
              </a:rPr>
              <a:t>Focus</a:t>
            </a:r>
            <a:r>
              <a:rPr lang="en-US" altLang="zh-CN" sz="1400">
                <a:solidFill>
                  <a:schemeClr val="accent2">
                    <a:lumMod val="50000"/>
                  </a:schemeClr>
                </a:solidFill>
              </a:rPr>
              <a:t>:How do noun and classifier</a:t>
            </a:r>
            <a:endParaRPr lang="en-US" altLang="zh-CN" sz="140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en-US" altLang="zh-CN" sz="1400">
                <a:solidFill>
                  <a:schemeClr val="accent2">
                    <a:lumMod val="50000"/>
                  </a:schemeClr>
                </a:solidFill>
              </a:rPr>
              <a:t>co-occur in natural generation?</a:t>
            </a:r>
            <a:endParaRPr lang="en-US" altLang="zh-CN" sz="14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6" name="右箭头 95"/>
          <p:cNvSpPr/>
          <p:nvPr/>
        </p:nvSpPr>
        <p:spPr>
          <a:xfrm>
            <a:off x="10427335" y="3371850"/>
            <a:ext cx="201930" cy="158750"/>
          </a:xfrm>
          <a:prstGeom prst="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7" name="右箭头 96"/>
          <p:cNvSpPr/>
          <p:nvPr/>
        </p:nvSpPr>
        <p:spPr>
          <a:xfrm>
            <a:off x="8943340" y="3380105"/>
            <a:ext cx="201930" cy="158750"/>
          </a:xfrm>
          <a:prstGeom prst="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文本框 97"/>
          <p:cNvSpPr txBox="1"/>
          <p:nvPr/>
        </p:nvSpPr>
        <p:spPr>
          <a:xfrm>
            <a:off x="9079865" y="1714500"/>
            <a:ext cx="2125345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accent2">
                    <a:lumMod val="50000"/>
                  </a:schemeClr>
                </a:solidFill>
              </a:rPr>
              <a:t>(Ecological Validity</a:t>
            </a:r>
            <a:r>
              <a:rPr lang="en-US" altLang="zh-CN" sz="1200" b="1">
                <a:solidFill>
                  <a:schemeClr val="accent2">
                    <a:lumMod val="50000"/>
                  </a:schemeClr>
                </a:solidFill>
              </a:rPr>
              <a:t>)</a:t>
            </a:r>
            <a:endParaRPr lang="en-US" altLang="zh-CN" sz="12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8168640" y="2392045"/>
            <a:ext cx="1031875" cy="248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/>
              <a:t>Visual Stimulus</a:t>
            </a:r>
            <a:endParaRPr lang="en-US" altLang="zh-CN" sz="1000" b="1"/>
          </a:p>
        </p:txBody>
      </p:sp>
      <p:sp>
        <p:nvSpPr>
          <p:cNvPr id="100" name="文本框 99"/>
          <p:cNvSpPr txBox="1"/>
          <p:nvPr/>
        </p:nvSpPr>
        <p:spPr>
          <a:xfrm>
            <a:off x="10742930" y="2261870"/>
            <a:ext cx="1139825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/>
              <a:t>Joint Generation</a:t>
            </a:r>
            <a:endParaRPr lang="en-US" altLang="zh-CN" sz="1000" b="1"/>
          </a:p>
          <a:p>
            <a:pPr algn="ctr"/>
            <a:r>
              <a:rPr lang="en-US" altLang="zh-CN" sz="1000" b="1"/>
              <a:t>(Noun+Classifier)</a:t>
            </a:r>
            <a:endParaRPr lang="en-US" altLang="zh-CN" sz="1000" b="1"/>
          </a:p>
        </p:txBody>
      </p:sp>
      <p:sp>
        <p:nvSpPr>
          <p:cNvPr id="101" name="流程图: 可选过程 100"/>
          <p:cNvSpPr/>
          <p:nvPr/>
        </p:nvSpPr>
        <p:spPr>
          <a:xfrm>
            <a:off x="9252585" y="3085465"/>
            <a:ext cx="1067435" cy="686435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Describe</a:t>
            </a:r>
            <a:endParaRPr lang="en-US" altLang="zh-CN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  <a:p>
            <a:pPr algn="ctr"/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this picture</a:t>
            </a:r>
            <a:endParaRPr lang="en-US" altLang="zh-CN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10701020" y="2674620"/>
            <a:ext cx="1261110" cy="17957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文本框 102"/>
          <p:cNvSpPr txBox="1"/>
          <p:nvPr/>
        </p:nvSpPr>
        <p:spPr>
          <a:xfrm>
            <a:off x="10742930" y="2875280"/>
            <a:ext cx="1061720" cy="1454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900" b="1"/>
              <a:t>一个苹果</a:t>
            </a: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10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900" b="1"/>
              <a:t>一篮子苹果</a:t>
            </a:r>
            <a:endParaRPr lang="zh-CN" altLang="en-US" sz="900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900" b="1"/>
              <a:t>这是一篮子</a:t>
            </a:r>
            <a:r>
              <a:rPr lang="zh-CN" altLang="en-US" sz="900" b="1"/>
              <a:t>红富士</a:t>
            </a: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900" b="1"/>
              <a:t>……</a:t>
            </a:r>
            <a:endParaRPr lang="en-US" altLang="zh-CN" sz="900" b="1"/>
          </a:p>
        </p:txBody>
      </p:sp>
      <p:sp>
        <p:nvSpPr>
          <p:cNvPr id="2" name="文本框 1"/>
          <p:cNvSpPr txBox="1"/>
          <p:nvPr/>
        </p:nvSpPr>
        <p:spPr>
          <a:xfrm>
            <a:off x="-18415" y="2313305"/>
            <a:ext cx="1000125" cy="248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/>
              <a:t>Visual Stimulus</a:t>
            </a:r>
            <a:endParaRPr lang="en-US" altLang="zh-CN" sz="10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692</Words>
  <Application>WPS 演示</Application>
  <PresentationFormat>宽屏</PresentationFormat>
  <Paragraphs>87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Calibri</vt:lpstr>
      <vt:lpstr>微软雅黑</vt:lpstr>
      <vt:lpstr>Wingdings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PengYongHeng</dc:creator>
  <cp:lastModifiedBy>彭永恒</cp:lastModifiedBy>
  <cp:revision>8</cp:revision>
  <dcterms:created xsi:type="dcterms:W3CDTF">2023-08-09T12:44:00Z</dcterms:created>
  <dcterms:modified xsi:type="dcterms:W3CDTF">2026-05-15T07:54:28Z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7A0B41296F5C435FA8076D8962A18F53_12</vt:lpwstr>
  </property>
</Properties>
</file>