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9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 userDrawn="1">
          <p15:clr>
            <a:srgbClr val="A4A3A4"/>
          </p15:clr>
        </p15:guide>
        <p15:guide id="2" pos="39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059"/>
        <p:guide pos="392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" name="流程图: 过程 43"/>
          <p:cNvSpPr/>
          <p:nvPr/>
        </p:nvSpPr>
        <p:spPr>
          <a:xfrm>
            <a:off x="4294505" y="2295525"/>
            <a:ext cx="3795395" cy="250634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6740525" y="3717290"/>
            <a:ext cx="1244600" cy="494030"/>
          </a:xfrm>
          <a:prstGeom prst="roundRect">
            <a:avLst/>
          </a:prstGeom>
          <a:solidFill>
            <a:schemeClr val="bg1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流程图: 过程 5"/>
          <p:cNvSpPr/>
          <p:nvPr/>
        </p:nvSpPr>
        <p:spPr>
          <a:xfrm>
            <a:off x="63500" y="2300605"/>
            <a:ext cx="4135755" cy="2506345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同侧圆角矩形 6"/>
          <p:cNvSpPr/>
          <p:nvPr/>
        </p:nvSpPr>
        <p:spPr>
          <a:xfrm>
            <a:off x="62865" y="1866900"/>
            <a:ext cx="4136390" cy="428625"/>
          </a:xfrm>
          <a:prstGeom prst="round2Same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/>
              <a:t>Task 1 Chassifier Choice</a:t>
            </a:r>
            <a:r>
              <a:rPr lang="en-US" altLang="zh-CN"/>
              <a:t> </a:t>
            </a:r>
            <a:endParaRPr lang="zh-CN" altLang="en-US"/>
          </a:p>
        </p:txBody>
      </p:sp>
      <p:sp>
        <p:nvSpPr>
          <p:cNvPr id="13" name="流程图: 可选过程 12"/>
          <p:cNvSpPr/>
          <p:nvPr/>
        </p:nvSpPr>
        <p:spPr>
          <a:xfrm>
            <a:off x="1050290" y="3411855"/>
            <a:ext cx="1095375" cy="37719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+mn-ea"/>
              </a:rPr>
              <a:t>Basic</a:t>
            </a:r>
            <a:endParaRPr lang="en-US" altLang="zh-CN" sz="900" b="1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+mn-ea"/>
            </a:endParaRPr>
          </a:p>
          <a:p>
            <a:pPr algn="ctr"/>
            <a:r>
              <a:rPr lang="zh-CN" altLang="en-US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+mn-ea"/>
              </a:rPr>
              <a:t>一</a:t>
            </a:r>
            <a:r>
              <a:rPr lang="en-US" altLang="zh-CN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+mn-ea"/>
              </a:rPr>
              <a:t>___</a:t>
            </a:r>
            <a:r>
              <a:rPr lang="zh-CN" altLang="en-US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+mn-ea"/>
              </a:rPr>
              <a:t>外套</a:t>
            </a:r>
            <a:endParaRPr lang="zh-CN" altLang="en-US" sz="900" b="1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+mn-ea"/>
            </a:endParaRPr>
          </a:p>
        </p:txBody>
      </p:sp>
      <p:sp>
        <p:nvSpPr>
          <p:cNvPr id="18" name="流程图: 过程 17"/>
          <p:cNvSpPr/>
          <p:nvPr/>
        </p:nvSpPr>
        <p:spPr>
          <a:xfrm>
            <a:off x="2724785" y="2878455"/>
            <a:ext cx="1074420" cy="245745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流程图: 过程 19"/>
          <p:cNvSpPr/>
          <p:nvPr/>
        </p:nvSpPr>
        <p:spPr>
          <a:xfrm>
            <a:off x="2724785" y="3291840"/>
            <a:ext cx="630555" cy="245745"/>
          </a:xfrm>
          <a:prstGeom prst="flowChartProcess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流程图: 过程 20"/>
          <p:cNvSpPr/>
          <p:nvPr/>
        </p:nvSpPr>
        <p:spPr>
          <a:xfrm>
            <a:off x="2724785" y="3704590"/>
            <a:ext cx="219075" cy="265430"/>
          </a:xfrm>
          <a:prstGeom prst="flowChartProcess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流程图: 过程 21"/>
          <p:cNvSpPr/>
          <p:nvPr/>
        </p:nvSpPr>
        <p:spPr>
          <a:xfrm>
            <a:off x="2724785" y="4137025"/>
            <a:ext cx="81280" cy="277495"/>
          </a:xfrm>
          <a:prstGeom prst="flowChartProcess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右箭头 23"/>
          <p:cNvSpPr/>
          <p:nvPr/>
        </p:nvSpPr>
        <p:spPr>
          <a:xfrm>
            <a:off x="2195195" y="3546475"/>
            <a:ext cx="208280" cy="1587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流程图: 可选过程 30"/>
          <p:cNvSpPr/>
          <p:nvPr/>
        </p:nvSpPr>
        <p:spPr>
          <a:xfrm>
            <a:off x="1050290" y="2893060"/>
            <a:ext cx="1094740" cy="37719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Superordinate</a:t>
            </a:r>
            <a:endParaRPr lang="zh-CN" altLang="en-US" sz="900" b="1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  <a:p>
            <a:pPr algn="ctr"/>
            <a:r>
              <a:rPr lang="zh-CN" altLang="en-US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一</a:t>
            </a:r>
            <a:r>
              <a:rPr lang="en-US" altLang="zh-CN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___</a:t>
            </a:r>
            <a:r>
              <a:rPr lang="zh-CN" altLang="en-US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衣服</a:t>
            </a:r>
            <a:endParaRPr lang="zh-CN" altLang="en-US" sz="900" b="1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32" name="流程图: 可选过程 31"/>
          <p:cNvSpPr/>
          <p:nvPr/>
        </p:nvSpPr>
        <p:spPr>
          <a:xfrm>
            <a:off x="1062355" y="3930650"/>
            <a:ext cx="1095375" cy="37719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+mn-ea"/>
              </a:rPr>
              <a:t>Subordinate</a:t>
            </a:r>
            <a:endParaRPr lang="en-US" altLang="zh-CN" sz="900" b="1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+mn-ea"/>
            </a:endParaRPr>
          </a:p>
          <a:p>
            <a:pPr algn="ctr"/>
            <a:r>
              <a:rPr lang="zh-CN" altLang="en-US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+mn-ea"/>
              </a:rPr>
              <a:t>一</a:t>
            </a:r>
            <a:r>
              <a:rPr lang="en-US" altLang="zh-CN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+mn-ea"/>
              </a:rPr>
              <a:t>___</a:t>
            </a:r>
            <a:r>
              <a:rPr lang="zh-CN" altLang="en-US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+mn-ea"/>
              </a:rPr>
              <a:t>西装</a:t>
            </a:r>
            <a:endParaRPr lang="zh-CN" altLang="en-US" sz="900" b="1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403475" y="2916555"/>
            <a:ext cx="204470" cy="222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 b="1"/>
              <a:t>套</a:t>
            </a:r>
            <a:endParaRPr lang="zh-CN" altLang="en-US" sz="1000" b="1"/>
          </a:p>
        </p:txBody>
      </p:sp>
      <p:sp>
        <p:nvSpPr>
          <p:cNvPr id="37" name="文本框 36"/>
          <p:cNvSpPr txBox="1"/>
          <p:nvPr/>
        </p:nvSpPr>
        <p:spPr>
          <a:xfrm>
            <a:off x="2403475" y="3303270"/>
            <a:ext cx="204470" cy="222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 b="1"/>
              <a:t>件</a:t>
            </a:r>
            <a:endParaRPr lang="zh-CN" altLang="en-US" sz="1000" b="1"/>
          </a:p>
        </p:txBody>
      </p:sp>
      <p:sp>
        <p:nvSpPr>
          <p:cNvPr id="38" name="文本框 37"/>
          <p:cNvSpPr txBox="1"/>
          <p:nvPr/>
        </p:nvSpPr>
        <p:spPr>
          <a:xfrm>
            <a:off x="2403475" y="3726180"/>
            <a:ext cx="204470" cy="222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 b="1"/>
              <a:t>个</a:t>
            </a:r>
            <a:endParaRPr lang="zh-CN" altLang="en-US" sz="1000" b="1"/>
          </a:p>
        </p:txBody>
      </p:sp>
      <p:sp>
        <p:nvSpPr>
          <p:cNvPr id="39" name="文本框 38"/>
          <p:cNvSpPr txBox="1"/>
          <p:nvPr/>
        </p:nvSpPr>
        <p:spPr>
          <a:xfrm>
            <a:off x="2174875" y="4149090"/>
            <a:ext cx="631190" cy="258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 b="1"/>
              <a:t>其他</a:t>
            </a:r>
            <a:endParaRPr lang="zh-CN" altLang="en-US" sz="1000" b="1"/>
          </a:p>
        </p:txBody>
      </p:sp>
      <p:sp>
        <p:nvSpPr>
          <p:cNvPr id="40" name="文本框 39"/>
          <p:cNvSpPr txBox="1"/>
          <p:nvPr/>
        </p:nvSpPr>
        <p:spPr>
          <a:xfrm>
            <a:off x="3799205" y="2885440"/>
            <a:ext cx="459740" cy="245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b="1"/>
              <a:t>60%</a:t>
            </a:r>
            <a:endParaRPr lang="en-US" altLang="zh-CN" sz="1000" b="1"/>
          </a:p>
        </p:txBody>
      </p:sp>
      <p:sp>
        <p:nvSpPr>
          <p:cNvPr id="41" name="文本框 40"/>
          <p:cNvSpPr txBox="1"/>
          <p:nvPr/>
        </p:nvSpPr>
        <p:spPr>
          <a:xfrm>
            <a:off x="3736340" y="3279140"/>
            <a:ext cx="462915" cy="245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b="1"/>
              <a:t>30%</a:t>
            </a:r>
            <a:endParaRPr lang="en-US" altLang="zh-CN" sz="1000" b="1"/>
          </a:p>
        </p:txBody>
      </p:sp>
      <p:sp>
        <p:nvSpPr>
          <p:cNvPr id="42" name="文本框 41"/>
          <p:cNvSpPr txBox="1"/>
          <p:nvPr/>
        </p:nvSpPr>
        <p:spPr>
          <a:xfrm>
            <a:off x="3736340" y="3707130"/>
            <a:ext cx="462915" cy="245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b="1"/>
              <a:t>8%</a:t>
            </a:r>
            <a:endParaRPr lang="en-US" altLang="zh-CN" sz="1000" b="1"/>
          </a:p>
        </p:txBody>
      </p:sp>
      <p:sp>
        <p:nvSpPr>
          <p:cNvPr id="43" name="文本框 42"/>
          <p:cNvSpPr txBox="1"/>
          <p:nvPr/>
        </p:nvSpPr>
        <p:spPr>
          <a:xfrm>
            <a:off x="3736340" y="4121150"/>
            <a:ext cx="462915" cy="245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b="1"/>
              <a:t>2%</a:t>
            </a:r>
            <a:endParaRPr lang="en-US" altLang="zh-CN" sz="1000" b="1"/>
          </a:p>
        </p:txBody>
      </p:sp>
      <p:sp>
        <p:nvSpPr>
          <p:cNvPr id="45" name="同侧圆角矩形 44"/>
          <p:cNvSpPr/>
          <p:nvPr/>
        </p:nvSpPr>
        <p:spPr>
          <a:xfrm>
            <a:off x="4294505" y="1885950"/>
            <a:ext cx="3794760" cy="428625"/>
          </a:xfrm>
          <a:prstGeom prst="round2Same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/>
              <a:t>Task 2 Head Noun Completion</a:t>
            </a:r>
            <a:r>
              <a:rPr lang="en-US" altLang="zh-CN"/>
              <a:t> </a:t>
            </a:r>
            <a:endParaRPr lang="zh-CN" altLang="en-US"/>
          </a:p>
        </p:txBody>
      </p:sp>
      <p:sp>
        <p:nvSpPr>
          <p:cNvPr id="53" name="右箭头 52"/>
          <p:cNvSpPr/>
          <p:nvPr/>
        </p:nvSpPr>
        <p:spPr>
          <a:xfrm>
            <a:off x="6483985" y="3616960"/>
            <a:ext cx="199390" cy="158750"/>
          </a:xfrm>
          <a:prstGeom prst="right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流程图: 可选过程 56"/>
          <p:cNvSpPr/>
          <p:nvPr/>
        </p:nvSpPr>
        <p:spPr>
          <a:xfrm>
            <a:off x="5351145" y="3128010"/>
            <a:ext cx="1015365" cy="434975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这是一个</a:t>
            </a:r>
            <a:r>
              <a:rPr lang="en-US" altLang="zh-CN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 _____</a:t>
            </a:r>
            <a:endParaRPr lang="en-US" altLang="zh-CN" sz="900" b="1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69" name="流程图: 可选过程 68"/>
          <p:cNvSpPr/>
          <p:nvPr/>
        </p:nvSpPr>
        <p:spPr>
          <a:xfrm>
            <a:off x="5351145" y="3775710"/>
            <a:ext cx="1014095" cy="434975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这是一件</a:t>
            </a:r>
            <a:r>
              <a:rPr lang="en-US" altLang="zh-CN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 _____</a:t>
            </a:r>
            <a:endParaRPr lang="en-US" altLang="zh-CN" sz="900" b="1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72" name="圆角矩形 71"/>
          <p:cNvSpPr/>
          <p:nvPr/>
        </p:nvSpPr>
        <p:spPr>
          <a:xfrm>
            <a:off x="6740525" y="3062605"/>
            <a:ext cx="1244600" cy="494030"/>
          </a:xfrm>
          <a:prstGeom prst="roundRect">
            <a:avLst/>
          </a:prstGeom>
          <a:solidFill>
            <a:schemeClr val="bg1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文本框 72"/>
          <p:cNvSpPr txBox="1"/>
          <p:nvPr/>
        </p:nvSpPr>
        <p:spPr>
          <a:xfrm>
            <a:off x="6788785" y="3119755"/>
            <a:ext cx="1153795" cy="428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 b="1"/>
              <a:t>西服、西装、衣服、外套</a:t>
            </a:r>
            <a:r>
              <a:rPr lang="en-US" altLang="zh-CN" sz="900" b="1"/>
              <a:t> …</a:t>
            </a:r>
            <a:endParaRPr lang="en-US" altLang="zh-CN" sz="900" b="1"/>
          </a:p>
        </p:txBody>
      </p:sp>
      <p:sp>
        <p:nvSpPr>
          <p:cNvPr id="74" name="文本框 73"/>
          <p:cNvSpPr txBox="1"/>
          <p:nvPr/>
        </p:nvSpPr>
        <p:spPr>
          <a:xfrm>
            <a:off x="6789420" y="3775710"/>
            <a:ext cx="1153160" cy="428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 b="1"/>
              <a:t>黑色西装、西服、外套</a:t>
            </a:r>
            <a:r>
              <a:rPr lang="en-US" altLang="zh-CN" sz="900" b="1"/>
              <a:t> …</a:t>
            </a:r>
            <a:endParaRPr lang="en-US" altLang="zh-CN" sz="900" b="1"/>
          </a:p>
        </p:txBody>
      </p:sp>
      <p:sp>
        <p:nvSpPr>
          <p:cNvPr id="92" name="流程图: 过程 91"/>
          <p:cNvSpPr/>
          <p:nvPr/>
        </p:nvSpPr>
        <p:spPr>
          <a:xfrm>
            <a:off x="8161655" y="2314575"/>
            <a:ext cx="3943985" cy="248729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3" name="同侧圆角矩形 92"/>
          <p:cNvSpPr/>
          <p:nvPr/>
        </p:nvSpPr>
        <p:spPr>
          <a:xfrm>
            <a:off x="8161655" y="1866900"/>
            <a:ext cx="3943985" cy="428625"/>
          </a:xfrm>
          <a:prstGeom prst="round2Same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/>
              <a:t>Task 3 Referring Expression Generation</a:t>
            </a:r>
            <a:endParaRPr lang="en-US" altLang="zh-CN" sz="1200" b="1"/>
          </a:p>
        </p:txBody>
      </p:sp>
      <p:sp>
        <p:nvSpPr>
          <p:cNvPr id="96" name="右箭头 95"/>
          <p:cNvSpPr/>
          <p:nvPr/>
        </p:nvSpPr>
        <p:spPr>
          <a:xfrm>
            <a:off x="10253345" y="3616960"/>
            <a:ext cx="201930" cy="158750"/>
          </a:xfrm>
          <a:prstGeom prst="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9" name="文本框 98"/>
          <p:cNvSpPr txBox="1"/>
          <p:nvPr/>
        </p:nvSpPr>
        <p:spPr>
          <a:xfrm>
            <a:off x="241935" y="139065"/>
            <a:ext cx="704850" cy="242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 b="1"/>
              <a:t>Visual Stimulus</a:t>
            </a:r>
            <a:endParaRPr lang="en-US" altLang="zh-CN" sz="1000" b="1"/>
          </a:p>
        </p:txBody>
      </p:sp>
      <p:sp>
        <p:nvSpPr>
          <p:cNvPr id="101" name="流程图: 可选过程 100"/>
          <p:cNvSpPr/>
          <p:nvPr/>
        </p:nvSpPr>
        <p:spPr>
          <a:xfrm>
            <a:off x="9206230" y="3525520"/>
            <a:ext cx="993775" cy="314325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这是一</a:t>
            </a:r>
            <a:r>
              <a:rPr lang="en-US" altLang="zh-CN" sz="8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_____</a:t>
            </a:r>
            <a:endParaRPr lang="en-US" altLang="zh-CN" sz="800" b="1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102" name="圆角矩形 101"/>
          <p:cNvSpPr/>
          <p:nvPr/>
        </p:nvSpPr>
        <p:spPr>
          <a:xfrm>
            <a:off x="10539095" y="2928620"/>
            <a:ext cx="1497965" cy="1379220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3" name="文本框 102"/>
          <p:cNvSpPr txBox="1"/>
          <p:nvPr/>
        </p:nvSpPr>
        <p:spPr>
          <a:xfrm>
            <a:off x="10617835" y="3067685"/>
            <a:ext cx="1339850" cy="1143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900" b="1"/>
              <a:t>套</a:t>
            </a:r>
            <a:r>
              <a:rPr lang="zh-CN" altLang="en-US" sz="900" b="1"/>
              <a:t>西服</a:t>
            </a:r>
            <a:endParaRPr lang="zh-CN" altLang="en-US" sz="900" b="1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900" b="1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900" b="1"/>
              <a:t>身</a:t>
            </a:r>
            <a:r>
              <a:rPr lang="zh-CN" altLang="en-US" sz="900" b="1"/>
              <a:t>西装</a:t>
            </a:r>
            <a:endParaRPr lang="zh-CN" altLang="en-US" sz="900" b="1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900" b="1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900" b="1"/>
              <a:t>套黑色的</a:t>
            </a:r>
            <a:r>
              <a:rPr lang="zh-CN" altLang="en-US" sz="900" b="1"/>
              <a:t>西服</a:t>
            </a:r>
            <a:endParaRPr lang="zh-CN" altLang="en-US" sz="900" b="1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900" b="1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900" b="1"/>
              <a:t>件黑色的</a:t>
            </a:r>
            <a:r>
              <a:rPr lang="zh-CN" altLang="en-US" sz="900" b="1"/>
              <a:t>衣服</a:t>
            </a:r>
            <a:endParaRPr lang="zh-CN" altLang="en-US" sz="900" b="1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900" b="1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900" b="1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900" b="1"/>
          </a:p>
        </p:txBody>
      </p:sp>
      <p:pic>
        <p:nvPicPr>
          <p:cNvPr id="5" name="图片 4" descr="free_1845057_2358638_1845057_sui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935" y="507365"/>
            <a:ext cx="625475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" name="流程图: 过程 43"/>
          <p:cNvSpPr/>
          <p:nvPr/>
        </p:nvSpPr>
        <p:spPr>
          <a:xfrm>
            <a:off x="4294505" y="2295525"/>
            <a:ext cx="3795395" cy="250634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6740525" y="3717290"/>
            <a:ext cx="1244600" cy="494030"/>
          </a:xfrm>
          <a:prstGeom prst="roundRect">
            <a:avLst/>
          </a:prstGeom>
          <a:solidFill>
            <a:schemeClr val="bg1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流程图: 过程 5"/>
          <p:cNvSpPr/>
          <p:nvPr/>
        </p:nvSpPr>
        <p:spPr>
          <a:xfrm>
            <a:off x="63500" y="2300605"/>
            <a:ext cx="4135755" cy="2506345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同侧圆角矩形 6"/>
          <p:cNvSpPr/>
          <p:nvPr/>
        </p:nvSpPr>
        <p:spPr>
          <a:xfrm>
            <a:off x="62865" y="1866900"/>
            <a:ext cx="4136390" cy="428625"/>
          </a:xfrm>
          <a:prstGeom prst="round2Same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/>
              <a:t>Task 1 Chassifier Choice</a:t>
            </a:r>
            <a:r>
              <a:rPr lang="en-US" altLang="zh-CN"/>
              <a:t> </a:t>
            </a:r>
            <a:endParaRPr lang="zh-CN" altLang="en-US"/>
          </a:p>
        </p:txBody>
      </p:sp>
      <p:sp>
        <p:nvSpPr>
          <p:cNvPr id="13" name="流程图: 可选过程 12"/>
          <p:cNvSpPr/>
          <p:nvPr/>
        </p:nvSpPr>
        <p:spPr>
          <a:xfrm>
            <a:off x="1050290" y="3411855"/>
            <a:ext cx="1095375" cy="37719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+mn-ea"/>
              </a:rPr>
              <a:t>Basic</a:t>
            </a:r>
            <a:endParaRPr lang="en-US" altLang="zh-CN" sz="900" b="1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+mn-ea"/>
            </a:endParaRPr>
          </a:p>
          <a:p>
            <a:pPr algn="ctr"/>
            <a:r>
              <a:rPr lang="zh-CN" altLang="en-US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+mn-ea"/>
              </a:rPr>
              <a:t>一</a:t>
            </a:r>
            <a:r>
              <a:rPr lang="en-US" altLang="zh-CN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+mn-ea"/>
              </a:rPr>
              <a:t>___</a:t>
            </a:r>
            <a:r>
              <a:rPr lang="zh-CN" altLang="en-US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+mn-ea"/>
              </a:rPr>
              <a:t>外套</a:t>
            </a:r>
            <a:endParaRPr lang="zh-CN" altLang="en-US" sz="900" b="1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+mn-ea"/>
            </a:endParaRPr>
          </a:p>
        </p:txBody>
      </p:sp>
      <p:sp>
        <p:nvSpPr>
          <p:cNvPr id="18" name="流程图: 过程 17"/>
          <p:cNvSpPr/>
          <p:nvPr/>
        </p:nvSpPr>
        <p:spPr>
          <a:xfrm>
            <a:off x="2724785" y="2878455"/>
            <a:ext cx="1074420" cy="245745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流程图: 过程 19"/>
          <p:cNvSpPr/>
          <p:nvPr/>
        </p:nvSpPr>
        <p:spPr>
          <a:xfrm>
            <a:off x="2724785" y="3291840"/>
            <a:ext cx="630555" cy="245745"/>
          </a:xfrm>
          <a:prstGeom prst="flowChartProcess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流程图: 过程 20"/>
          <p:cNvSpPr/>
          <p:nvPr/>
        </p:nvSpPr>
        <p:spPr>
          <a:xfrm>
            <a:off x="2724785" y="3704590"/>
            <a:ext cx="219075" cy="265430"/>
          </a:xfrm>
          <a:prstGeom prst="flowChartProcess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流程图: 过程 21"/>
          <p:cNvSpPr/>
          <p:nvPr/>
        </p:nvSpPr>
        <p:spPr>
          <a:xfrm>
            <a:off x="2724785" y="4137025"/>
            <a:ext cx="81280" cy="277495"/>
          </a:xfrm>
          <a:prstGeom prst="flowChartProcess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右箭头 23"/>
          <p:cNvSpPr/>
          <p:nvPr/>
        </p:nvSpPr>
        <p:spPr>
          <a:xfrm>
            <a:off x="2195195" y="3546475"/>
            <a:ext cx="208280" cy="1587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流程图: 可选过程 30"/>
          <p:cNvSpPr/>
          <p:nvPr/>
        </p:nvSpPr>
        <p:spPr>
          <a:xfrm>
            <a:off x="1050290" y="2893060"/>
            <a:ext cx="1094740" cy="37719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Superordinate</a:t>
            </a:r>
            <a:endParaRPr lang="zh-CN" altLang="en-US" sz="900" b="1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  <a:p>
            <a:pPr algn="ctr"/>
            <a:r>
              <a:rPr lang="zh-CN" altLang="en-US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一</a:t>
            </a:r>
            <a:r>
              <a:rPr lang="en-US" altLang="zh-CN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___</a:t>
            </a:r>
            <a:r>
              <a:rPr lang="zh-CN" altLang="en-US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衣服</a:t>
            </a:r>
            <a:endParaRPr lang="zh-CN" altLang="en-US" sz="900" b="1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32" name="流程图: 可选过程 31"/>
          <p:cNvSpPr/>
          <p:nvPr/>
        </p:nvSpPr>
        <p:spPr>
          <a:xfrm>
            <a:off x="1062355" y="3930650"/>
            <a:ext cx="1095375" cy="37719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+mn-ea"/>
              </a:rPr>
              <a:t>Subordinate</a:t>
            </a:r>
            <a:endParaRPr lang="en-US" altLang="zh-CN" sz="900" b="1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+mn-ea"/>
            </a:endParaRPr>
          </a:p>
          <a:p>
            <a:pPr algn="ctr"/>
            <a:r>
              <a:rPr lang="zh-CN" altLang="en-US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+mn-ea"/>
              </a:rPr>
              <a:t>一</a:t>
            </a:r>
            <a:r>
              <a:rPr lang="en-US" altLang="zh-CN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+mn-ea"/>
              </a:rPr>
              <a:t>___</a:t>
            </a:r>
            <a:r>
              <a:rPr lang="zh-CN" altLang="en-US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+mn-ea"/>
              </a:rPr>
              <a:t>西装</a:t>
            </a:r>
            <a:endParaRPr lang="zh-CN" altLang="en-US" sz="900" b="1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403475" y="2916555"/>
            <a:ext cx="204470" cy="222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 b="1"/>
              <a:t>套</a:t>
            </a:r>
            <a:endParaRPr lang="zh-CN" altLang="en-US" sz="1000" b="1"/>
          </a:p>
        </p:txBody>
      </p:sp>
      <p:sp>
        <p:nvSpPr>
          <p:cNvPr id="37" name="文本框 36"/>
          <p:cNvSpPr txBox="1"/>
          <p:nvPr/>
        </p:nvSpPr>
        <p:spPr>
          <a:xfrm>
            <a:off x="2403475" y="3303270"/>
            <a:ext cx="204470" cy="222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 b="1"/>
              <a:t>件</a:t>
            </a:r>
            <a:endParaRPr lang="zh-CN" altLang="en-US" sz="1000" b="1"/>
          </a:p>
        </p:txBody>
      </p:sp>
      <p:sp>
        <p:nvSpPr>
          <p:cNvPr id="38" name="文本框 37"/>
          <p:cNvSpPr txBox="1"/>
          <p:nvPr/>
        </p:nvSpPr>
        <p:spPr>
          <a:xfrm>
            <a:off x="2403475" y="3726180"/>
            <a:ext cx="204470" cy="222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 b="1"/>
              <a:t>个</a:t>
            </a:r>
            <a:endParaRPr lang="zh-CN" altLang="en-US" sz="1000" b="1"/>
          </a:p>
        </p:txBody>
      </p:sp>
      <p:sp>
        <p:nvSpPr>
          <p:cNvPr id="39" name="文本框 38"/>
          <p:cNvSpPr txBox="1"/>
          <p:nvPr/>
        </p:nvSpPr>
        <p:spPr>
          <a:xfrm>
            <a:off x="2174875" y="4149090"/>
            <a:ext cx="631190" cy="258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 b="1"/>
              <a:t>其他</a:t>
            </a:r>
            <a:endParaRPr lang="zh-CN" altLang="en-US" sz="1000" b="1"/>
          </a:p>
        </p:txBody>
      </p:sp>
      <p:sp>
        <p:nvSpPr>
          <p:cNvPr id="40" name="文本框 39"/>
          <p:cNvSpPr txBox="1"/>
          <p:nvPr/>
        </p:nvSpPr>
        <p:spPr>
          <a:xfrm>
            <a:off x="3799205" y="2885440"/>
            <a:ext cx="459740" cy="245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b="1"/>
              <a:t>60%</a:t>
            </a:r>
            <a:endParaRPr lang="en-US" altLang="zh-CN" sz="1000" b="1"/>
          </a:p>
        </p:txBody>
      </p:sp>
      <p:sp>
        <p:nvSpPr>
          <p:cNvPr id="41" name="文本框 40"/>
          <p:cNvSpPr txBox="1"/>
          <p:nvPr/>
        </p:nvSpPr>
        <p:spPr>
          <a:xfrm>
            <a:off x="3736340" y="3279140"/>
            <a:ext cx="462915" cy="245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b="1"/>
              <a:t>30%</a:t>
            </a:r>
            <a:endParaRPr lang="en-US" altLang="zh-CN" sz="1000" b="1"/>
          </a:p>
        </p:txBody>
      </p:sp>
      <p:sp>
        <p:nvSpPr>
          <p:cNvPr id="42" name="文本框 41"/>
          <p:cNvSpPr txBox="1"/>
          <p:nvPr/>
        </p:nvSpPr>
        <p:spPr>
          <a:xfrm>
            <a:off x="3736340" y="3707130"/>
            <a:ext cx="462915" cy="245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b="1"/>
              <a:t>8%</a:t>
            </a:r>
            <a:endParaRPr lang="en-US" altLang="zh-CN" sz="1000" b="1"/>
          </a:p>
        </p:txBody>
      </p:sp>
      <p:sp>
        <p:nvSpPr>
          <p:cNvPr id="43" name="文本框 42"/>
          <p:cNvSpPr txBox="1"/>
          <p:nvPr/>
        </p:nvSpPr>
        <p:spPr>
          <a:xfrm>
            <a:off x="3736340" y="4121150"/>
            <a:ext cx="462915" cy="245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b="1"/>
              <a:t>2%</a:t>
            </a:r>
            <a:endParaRPr lang="en-US" altLang="zh-CN" sz="1000" b="1"/>
          </a:p>
        </p:txBody>
      </p:sp>
      <p:sp>
        <p:nvSpPr>
          <p:cNvPr id="45" name="同侧圆角矩形 44"/>
          <p:cNvSpPr/>
          <p:nvPr/>
        </p:nvSpPr>
        <p:spPr>
          <a:xfrm>
            <a:off x="4294505" y="1885950"/>
            <a:ext cx="3794760" cy="428625"/>
          </a:xfrm>
          <a:prstGeom prst="round2Same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/>
              <a:t>Task 2 Head Noun Completion</a:t>
            </a:r>
            <a:r>
              <a:rPr lang="en-US" altLang="zh-CN"/>
              <a:t> </a:t>
            </a:r>
            <a:endParaRPr lang="zh-CN" altLang="en-US"/>
          </a:p>
        </p:txBody>
      </p:sp>
      <p:sp>
        <p:nvSpPr>
          <p:cNvPr id="53" name="右箭头 52"/>
          <p:cNvSpPr/>
          <p:nvPr/>
        </p:nvSpPr>
        <p:spPr>
          <a:xfrm>
            <a:off x="6483985" y="3616960"/>
            <a:ext cx="199390" cy="158750"/>
          </a:xfrm>
          <a:prstGeom prst="right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流程图: 可选过程 56"/>
          <p:cNvSpPr/>
          <p:nvPr/>
        </p:nvSpPr>
        <p:spPr>
          <a:xfrm>
            <a:off x="5351145" y="3128010"/>
            <a:ext cx="1015365" cy="434975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这是一个</a:t>
            </a:r>
            <a:r>
              <a:rPr lang="en-US" altLang="zh-CN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 _____</a:t>
            </a:r>
            <a:endParaRPr lang="en-US" altLang="zh-CN" sz="900" b="1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69" name="流程图: 可选过程 68"/>
          <p:cNvSpPr/>
          <p:nvPr/>
        </p:nvSpPr>
        <p:spPr>
          <a:xfrm>
            <a:off x="5351145" y="3775710"/>
            <a:ext cx="1014095" cy="434975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这是一件</a:t>
            </a:r>
            <a:r>
              <a:rPr lang="en-US" altLang="zh-CN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 _____</a:t>
            </a:r>
            <a:endParaRPr lang="en-US" altLang="zh-CN" sz="900" b="1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72" name="圆角矩形 71"/>
          <p:cNvSpPr/>
          <p:nvPr/>
        </p:nvSpPr>
        <p:spPr>
          <a:xfrm>
            <a:off x="6740525" y="3062605"/>
            <a:ext cx="1244600" cy="494030"/>
          </a:xfrm>
          <a:prstGeom prst="roundRect">
            <a:avLst/>
          </a:prstGeom>
          <a:solidFill>
            <a:schemeClr val="bg1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文本框 72"/>
          <p:cNvSpPr txBox="1"/>
          <p:nvPr/>
        </p:nvSpPr>
        <p:spPr>
          <a:xfrm>
            <a:off x="6788785" y="3119755"/>
            <a:ext cx="1153795" cy="428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 b="1"/>
              <a:t>西服、西装、衣服、外套</a:t>
            </a:r>
            <a:r>
              <a:rPr lang="en-US" altLang="zh-CN" sz="900" b="1"/>
              <a:t> …</a:t>
            </a:r>
            <a:endParaRPr lang="en-US" altLang="zh-CN" sz="900" b="1"/>
          </a:p>
        </p:txBody>
      </p:sp>
      <p:sp>
        <p:nvSpPr>
          <p:cNvPr id="74" name="文本框 73"/>
          <p:cNvSpPr txBox="1"/>
          <p:nvPr/>
        </p:nvSpPr>
        <p:spPr>
          <a:xfrm>
            <a:off x="6789420" y="3775710"/>
            <a:ext cx="1153160" cy="428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 b="1"/>
              <a:t>黑色西装、西服、外套</a:t>
            </a:r>
            <a:r>
              <a:rPr lang="en-US" altLang="zh-CN" sz="900" b="1"/>
              <a:t> …</a:t>
            </a:r>
            <a:endParaRPr lang="en-US" altLang="zh-CN" sz="900" b="1"/>
          </a:p>
        </p:txBody>
      </p:sp>
      <p:sp>
        <p:nvSpPr>
          <p:cNvPr id="92" name="流程图: 过程 91"/>
          <p:cNvSpPr/>
          <p:nvPr/>
        </p:nvSpPr>
        <p:spPr>
          <a:xfrm>
            <a:off x="8161655" y="2314575"/>
            <a:ext cx="3943985" cy="248729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3" name="同侧圆角矩形 92"/>
          <p:cNvSpPr/>
          <p:nvPr/>
        </p:nvSpPr>
        <p:spPr>
          <a:xfrm>
            <a:off x="8161655" y="1866900"/>
            <a:ext cx="3943985" cy="428625"/>
          </a:xfrm>
          <a:prstGeom prst="round2Same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/>
              <a:t>Task 3 Referring Expression Generation</a:t>
            </a:r>
            <a:endParaRPr lang="en-US" altLang="zh-CN" sz="1200" b="1"/>
          </a:p>
        </p:txBody>
      </p:sp>
      <p:sp>
        <p:nvSpPr>
          <p:cNvPr id="96" name="右箭头 95"/>
          <p:cNvSpPr/>
          <p:nvPr/>
        </p:nvSpPr>
        <p:spPr>
          <a:xfrm>
            <a:off x="10253345" y="3616960"/>
            <a:ext cx="201930" cy="158750"/>
          </a:xfrm>
          <a:prstGeom prst="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9" name="文本框 98"/>
          <p:cNvSpPr txBox="1"/>
          <p:nvPr/>
        </p:nvSpPr>
        <p:spPr>
          <a:xfrm>
            <a:off x="102235" y="2642870"/>
            <a:ext cx="704850" cy="242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 b="1"/>
              <a:t>Visual Stimulus</a:t>
            </a:r>
            <a:endParaRPr lang="en-US" altLang="zh-CN" sz="1000" b="1"/>
          </a:p>
        </p:txBody>
      </p:sp>
      <p:sp>
        <p:nvSpPr>
          <p:cNvPr id="101" name="流程图: 可选过程 100"/>
          <p:cNvSpPr/>
          <p:nvPr/>
        </p:nvSpPr>
        <p:spPr>
          <a:xfrm>
            <a:off x="9206230" y="3525520"/>
            <a:ext cx="993775" cy="314325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这是一</a:t>
            </a:r>
            <a:r>
              <a:rPr lang="en-US" altLang="zh-CN" sz="8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_____</a:t>
            </a:r>
            <a:endParaRPr lang="en-US" altLang="zh-CN" sz="800" b="1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102" name="圆角矩形 101"/>
          <p:cNvSpPr/>
          <p:nvPr/>
        </p:nvSpPr>
        <p:spPr>
          <a:xfrm>
            <a:off x="10539095" y="2928620"/>
            <a:ext cx="1497965" cy="1379220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3" name="文本框 102"/>
          <p:cNvSpPr txBox="1"/>
          <p:nvPr/>
        </p:nvSpPr>
        <p:spPr>
          <a:xfrm>
            <a:off x="10617835" y="3067685"/>
            <a:ext cx="1339850" cy="1143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900" b="1"/>
              <a:t>套</a:t>
            </a:r>
            <a:r>
              <a:rPr lang="zh-CN" altLang="en-US" sz="900" b="1"/>
              <a:t>西服</a:t>
            </a:r>
            <a:endParaRPr lang="zh-CN" altLang="en-US" sz="900" b="1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900" b="1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900" b="1"/>
              <a:t>身</a:t>
            </a:r>
            <a:r>
              <a:rPr lang="zh-CN" altLang="en-US" sz="900" b="1"/>
              <a:t>西装</a:t>
            </a:r>
            <a:endParaRPr lang="zh-CN" altLang="en-US" sz="900" b="1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900" b="1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900" b="1"/>
              <a:t>套黑色的</a:t>
            </a:r>
            <a:r>
              <a:rPr lang="zh-CN" altLang="en-US" sz="900" b="1"/>
              <a:t>西服</a:t>
            </a:r>
            <a:endParaRPr lang="zh-CN" altLang="en-US" sz="900" b="1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900" b="1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900" b="1"/>
              <a:t>件黑色的</a:t>
            </a:r>
            <a:r>
              <a:rPr lang="zh-CN" altLang="en-US" sz="900" b="1"/>
              <a:t>衣服</a:t>
            </a:r>
            <a:endParaRPr lang="zh-CN" altLang="en-US" sz="900" b="1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900" b="1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900" b="1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900" b="1"/>
          </a:p>
        </p:txBody>
      </p:sp>
      <p:pic>
        <p:nvPicPr>
          <p:cNvPr id="5" name="图片 4" descr="free_1845057_2358638_1845057_sui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35" y="3263900"/>
            <a:ext cx="625475" cy="857250"/>
          </a:xfrm>
          <a:prstGeom prst="rect">
            <a:avLst/>
          </a:prstGeom>
        </p:spPr>
      </p:pic>
      <p:sp>
        <p:nvSpPr>
          <p:cNvPr id="3" name="右箭头 2"/>
          <p:cNvSpPr/>
          <p:nvPr/>
        </p:nvSpPr>
        <p:spPr>
          <a:xfrm>
            <a:off x="784860" y="3548380"/>
            <a:ext cx="208280" cy="1587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 descr="free_1845057_2358638_1845057_sui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3880" y="3268980"/>
            <a:ext cx="625475" cy="857250"/>
          </a:xfrm>
          <a:prstGeom prst="rect">
            <a:avLst/>
          </a:prstGeom>
        </p:spPr>
      </p:pic>
      <p:sp>
        <p:nvSpPr>
          <p:cNvPr id="8" name="右箭头 7"/>
          <p:cNvSpPr/>
          <p:nvPr/>
        </p:nvSpPr>
        <p:spPr>
          <a:xfrm>
            <a:off x="5066665" y="3616960"/>
            <a:ext cx="199390" cy="158750"/>
          </a:xfrm>
          <a:prstGeom prst="right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294505" y="2673985"/>
            <a:ext cx="704850" cy="242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 b="1"/>
              <a:t>Visual Stimulus</a:t>
            </a:r>
            <a:endParaRPr lang="en-US" altLang="zh-CN" sz="1000" b="1"/>
          </a:p>
        </p:txBody>
      </p:sp>
      <p:pic>
        <p:nvPicPr>
          <p:cNvPr id="10" name="图片 9" descr="free_1845057_2358638_1845057_sui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650" y="3270250"/>
            <a:ext cx="625475" cy="857250"/>
          </a:xfrm>
          <a:prstGeom prst="rect">
            <a:avLst/>
          </a:prstGeom>
        </p:spPr>
      </p:pic>
      <p:sp>
        <p:nvSpPr>
          <p:cNvPr id="11" name="右箭头 10"/>
          <p:cNvSpPr/>
          <p:nvPr/>
        </p:nvSpPr>
        <p:spPr>
          <a:xfrm>
            <a:off x="8930640" y="3616960"/>
            <a:ext cx="201930" cy="158750"/>
          </a:xfrm>
          <a:prstGeom prst="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225790" y="2686050"/>
            <a:ext cx="704850" cy="242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 b="1"/>
              <a:t>Visual Stimulus</a:t>
            </a:r>
            <a:endParaRPr lang="en-US" altLang="zh-CN" sz="10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508</Words>
  <Application>WPS 演示</Application>
  <PresentationFormat>宽屏</PresentationFormat>
  <Paragraphs>112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Calibri</vt:lpstr>
      <vt:lpstr>微软雅黑</vt:lpstr>
      <vt:lpstr>Wingdings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PengYongHeng</dc:creator>
  <cp:lastModifiedBy>彭永恒</cp:lastModifiedBy>
  <cp:revision>21</cp:revision>
  <dcterms:created xsi:type="dcterms:W3CDTF">2026-05-15T15:58:00Z</dcterms:created>
  <dcterms:modified xsi:type="dcterms:W3CDTF">2026-05-17T05:05:19Z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7A0B41296F5C435FA8076D8962A18F53_12</vt:lpwstr>
  </property>
</Properties>
</file>