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5" userDrawn="1">
          <p15:clr>
            <a:srgbClr val="A4A3A4"/>
          </p15:clr>
        </p15:guide>
        <p15:guide id="2" pos="39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43F0B"/>
    <a:srgbClr val="FED9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35"/>
        <p:guide pos="397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4" name="流程图: 过程 43"/>
          <p:cNvSpPr/>
          <p:nvPr/>
        </p:nvSpPr>
        <p:spPr>
          <a:xfrm>
            <a:off x="4337685" y="4340225"/>
            <a:ext cx="3363595" cy="2303145"/>
          </a:xfrm>
          <a:prstGeom prst="flowChartProcess">
            <a:avLst/>
          </a:prstGeom>
          <a:solidFill>
            <a:schemeClr val="bg1"/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圆角矩形 1"/>
          <p:cNvSpPr/>
          <p:nvPr/>
        </p:nvSpPr>
        <p:spPr>
          <a:xfrm>
            <a:off x="6192520" y="5532120"/>
            <a:ext cx="1244600" cy="49403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流程图: 过程 5"/>
          <p:cNvSpPr/>
          <p:nvPr/>
        </p:nvSpPr>
        <p:spPr>
          <a:xfrm>
            <a:off x="712470" y="1891030"/>
            <a:ext cx="3405505" cy="2225675"/>
          </a:xfrm>
          <a:prstGeom prst="flowChartProcess">
            <a:avLst/>
          </a:prstGeom>
          <a:solidFill>
            <a:schemeClr val="bg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同侧圆角矩形 6"/>
          <p:cNvSpPr/>
          <p:nvPr/>
        </p:nvSpPr>
        <p:spPr>
          <a:xfrm>
            <a:off x="711200" y="1459865"/>
            <a:ext cx="3407410" cy="428625"/>
          </a:xfrm>
          <a:prstGeom prst="round2Same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b="1"/>
              <a:t>Task 1 Chassifier Choice</a:t>
            </a:r>
            <a:r>
              <a:rPr lang="en-US" altLang="zh-CN"/>
              <a:t> </a:t>
            </a:r>
            <a:endParaRPr lang="zh-CN" altLang="en-US"/>
          </a:p>
        </p:txBody>
      </p:sp>
      <p:sp>
        <p:nvSpPr>
          <p:cNvPr id="13" name="流程图: 可选过程 12"/>
          <p:cNvSpPr/>
          <p:nvPr/>
        </p:nvSpPr>
        <p:spPr>
          <a:xfrm>
            <a:off x="828040" y="2808605"/>
            <a:ext cx="1095375" cy="377190"/>
          </a:xfrm>
          <a:prstGeom prst="flowChartAlternateProcess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Basic</a:t>
            </a:r>
            <a:endParaRPr lang="en-US" altLang="zh-CN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  <a:sym typeface="+mn-ea"/>
            </a:endParaRPr>
          </a:p>
          <a:p>
            <a:pPr algn="ctr"/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一</a:t>
            </a:r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___</a:t>
            </a:r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外套</a:t>
            </a:r>
            <a:endParaRPr lang="zh-CN" altLang="en-US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  <a:sym typeface="+mn-ea"/>
            </a:endParaRPr>
          </a:p>
        </p:txBody>
      </p:sp>
      <p:sp>
        <p:nvSpPr>
          <p:cNvPr id="18" name="流程图: 过程 17"/>
          <p:cNvSpPr/>
          <p:nvPr/>
        </p:nvSpPr>
        <p:spPr>
          <a:xfrm>
            <a:off x="2519045" y="2188210"/>
            <a:ext cx="1074420" cy="245745"/>
          </a:xfrm>
          <a:prstGeom prst="flowChartProcess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流程图: 过程 19"/>
          <p:cNvSpPr/>
          <p:nvPr/>
        </p:nvSpPr>
        <p:spPr>
          <a:xfrm>
            <a:off x="2519045" y="2703195"/>
            <a:ext cx="630555" cy="245745"/>
          </a:xfrm>
          <a:prstGeom prst="flowChartProcess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流程图: 过程 20"/>
          <p:cNvSpPr/>
          <p:nvPr/>
        </p:nvSpPr>
        <p:spPr>
          <a:xfrm>
            <a:off x="2519045" y="3130550"/>
            <a:ext cx="219075" cy="265430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流程图: 过程 21"/>
          <p:cNvSpPr/>
          <p:nvPr/>
        </p:nvSpPr>
        <p:spPr>
          <a:xfrm>
            <a:off x="2519045" y="3577590"/>
            <a:ext cx="81280" cy="277495"/>
          </a:xfrm>
          <a:prstGeom prst="flowChartProcess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右箭头 23"/>
          <p:cNvSpPr/>
          <p:nvPr/>
        </p:nvSpPr>
        <p:spPr>
          <a:xfrm>
            <a:off x="1989455" y="2948940"/>
            <a:ext cx="208280" cy="1587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流程图: 可选过程 30"/>
          <p:cNvSpPr/>
          <p:nvPr/>
        </p:nvSpPr>
        <p:spPr>
          <a:xfrm>
            <a:off x="843915" y="2220595"/>
            <a:ext cx="1096010" cy="377190"/>
          </a:xfrm>
          <a:prstGeom prst="flowChartAlternateProcess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Superordinate</a:t>
            </a:r>
            <a:endParaRPr lang="zh-CN" altLang="en-US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</a:endParaRPr>
          </a:p>
          <a:p>
            <a:pPr algn="ctr"/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一</a:t>
            </a:r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___</a:t>
            </a:r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衣服</a:t>
            </a:r>
            <a:endParaRPr lang="zh-CN" altLang="en-US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</a:endParaRPr>
          </a:p>
        </p:txBody>
      </p:sp>
      <p:sp>
        <p:nvSpPr>
          <p:cNvPr id="32" name="流程图: 可选过程 31"/>
          <p:cNvSpPr/>
          <p:nvPr/>
        </p:nvSpPr>
        <p:spPr>
          <a:xfrm>
            <a:off x="843915" y="3395980"/>
            <a:ext cx="1095375" cy="377190"/>
          </a:xfrm>
          <a:prstGeom prst="flowChartAlternateProcess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Subordinate</a:t>
            </a:r>
            <a:endParaRPr lang="en-US" altLang="zh-CN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  <a:sym typeface="+mn-ea"/>
            </a:endParaRPr>
          </a:p>
          <a:p>
            <a:pPr algn="ctr"/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一</a:t>
            </a:r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___</a:t>
            </a:r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西装</a:t>
            </a:r>
            <a:endParaRPr lang="zh-CN" altLang="en-US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  <a:sym typeface="+mn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2197735" y="2220595"/>
            <a:ext cx="204470" cy="222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000" b="1"/>
              <a:t>套</a:t>
            </a:r>
            <a:endParaRPr lang="zh-CN" altLang="en-US" sz="1000" b="1"/>
          </a:p>
        </p:txBody>
      </p:sp>
      <p:sp>
        <p:nvSpPr>
          <p:cNvPr id="37" name="文本框 36"/>
          <p:cNvSpPr txBox="1"/>
          <p:nvPr/>
        </p:nvSpPr>
        <p:spPr>
          <a:xfrm>
            <a:off x="2197735" y="2703195"/>
            <a:ext cx="204470" cy="222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000" b="1"/>
              <a:t>件</a:t>
            </a:r>
            <a:endParaRPr lang="zh-CN" altLang="en-US" sz="1000" b="1"/>
          </a:p>
        </p:txBody>
      </p:sp>
      <p:sp>
        <p:nvSpPr>
          <p:cNvPr id="38" name="文本框 37"/>
          <p:cNvSpPr txBox="1"/>
          <p:nvPr/>
        </p:nvSpPr>
        <p:spPr>
          <a:xfrm>
            <a:off x="2197735" y="3130550"/>
            <a:ext cx="204470" cy="222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000" b="1"/>
              <a:t>个</a:t>
            </a:r>
            <a:endParaRPr lang="zh-CN" altLang="en-US" sz="1000" b="1"/>
          </a:p>
        </p:txBody>
      </p:sp>
      <p:sp>
        <p:nvSpPr>
          <p:cNvPr id="39" name="文本框 38"/>
          <p:cNvSpPr txBox="1"/>
          <p:nvPr/>
        </p:nvSpPr>
        <p:spPr>
          <a:xfrm>
            <a:off x="1989455" y="3592830"/>
            <a:ext cx="631190" cy="2584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000" b="1"/>
              <a:t>其他</a:t>
            </a:r>
            <a:endParaRPr lang="zh-CN" altLang="en-US" sz="1000" b="1"/>
          </a:p>
        </p:txBody>
      </p:sp>
      <p:sp>
        <p:nvSpPr>
          <p:cNvPr id="40" name="文本框 39"/>
          <p:cNvSpPr txBox="1"/>
          <p:nvPr/>
        </p:nvSpPr>
        <p:spPr>
          <a:xfrm>
            <a:off x="3593465" y="2188210"/>
            <a:ext cx="462915" cy="245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/>
              <a:t>60%</a:t>
            </a:r>
            <a:endParaRPr lang="en-US" altLang="zh-CN" sz="1000" b="1"/>
          </a:p>
        </p:txBody>
      </p:sp>
      <p:sp>
        <p:nvSpPr>
          <p:cNvPr id="41" name="文本框 40"/>
          <p:cNvSpPr txBox="1"/>
          <p:nvPr/>
        </p:nvSpPr>
        <p:spPr>
          <a:xfrm>
            <a:off x="3593465" y="2695575"/>
            <a:ext cx="462915" cy="245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/>
              <a:t>30%</a:t>
            </a:r>
            <a:endParaRPr lang="en-US" altLang="zh-CN" sz="1000" b="1"/>
          </a:p>
        </p:txBody>
      </p:sp>
      <p:sp>
        <p:nvSpPr>
          <p:cNvPr id="42" name="文本框 41"/>
          <p:cNvSpPr txBox="1"/>
          <p:nvPr/>
        </p:nvSpPr>
        <p:spPr>
          <a:xfrm>
            <a:off x="3593465" y="3120390"/>
            <a:ext cx="462915" cy="245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/>
              <a:t>8%</a:t>
            </a:r>
            <a:endParaRPr lang="en-US" altLang="zh-CN" sz="1000" b="1"/>
          </a:p>
        </p:txBody>
      </p:sp>
      <p:sp>
        <p:nvSpPr>
          <p:cNvPr id="43" name="文本框 42"/>
          <p:cNvSpPr txBox="1"/>
          <p:nvPr/>
        </p:nvSpPr>
        <p:spPr>
          <a:xfrm>
            <a:off x="3593465" y="3581400"/>
            <a:ext cx="462915" cy="245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/>
              <a:t>2%</a:t>
            </a:r>
            <a:endParaRPr lang="en-US" altLang="zh-CN" sz="1000" b="1"/>
          </a:p>
        </p:txBody>
      </p:sp>
      <p:sp>
        <p:nvSpPr>
          <p:cNvPr id="45" name="同侧圆角矩形 44"/>
          <p:cNvSpPr/>
          <p:nvPr/>
        </p:nvSpPr>
        <p:spPr>
          <a:xfrm>
            <a:off x="4337685" y="3902710"/>
            <a:ext cx="3363595" cy="427990"/>
          </a:xfrm>
          <a:prstGeom prst="round2Same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b="1"/>
              <a:t>Task 2 Head Noun Completion</a:t>
            </a:r>
            <a:r>
              <a:rPr lang="en-US" altLang="zh-CN"/>
              <a:t> </a:t>
            </a:r>
            <a:endParaRPr lang="zh-CN" altLang="en-US"/>
          </a:p>
        </p:txBody>
      </p:sp>
      <p:sp>
        <p:nvSpPr>
          <p:cNvPr id="53" name="右箭头 52"/>
          <p:cNvSpPr/>
          <p:nvPr/>
        </p:nvSpPr>
        <p:spPr>
          <a:xfrm>
            <a:off x="5836920" y="5317490"/>
            <a:ext cx="199390" cy="158750"/>
          </a:xfrm>
          <a:prstGeom prst="right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7" name="流程图: 可选过程 56"/>
          <p:cNvSpPr/>
          <p:nvPr/>
        </p:nvSpPr>
        <p:spPr>
          <a:xfrm>
            <a:off x="4704080" y="4788535"/>
            <a:ext cx="1053465" cy="434975"/>
          </a:xfrm>
          <a:prstGeom prst="flowChartAlternateProcess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这是一个</a:t>
            </a:r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 _____</a:t>
            </a:r>
            <a:endParaRPr lang="en-US" altLang="zh-CN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</a:endParaRPr>
          </a:p>
        </p:txBody>
      </p:sp>
      <p:sp>
        <p:nvSpPr>
          <p:cNvPr id="69" name="流程图: 可选过程 68"/>
          <p:cNvSpPr/>
          <p:nvPr/>
        </p:nvSpPr>
        <p:spPr>
          <a:xfrm>
            <a:off x="4704080" y="5579110"/>
            <a:ext cx="1053465" cy="434975"/>
          </a:xfrm>
          <a:prstGeom prst="flowChartAlternateProcess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这是一件</a:t>
            </a:r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 _____</a:t>
            </a:r>
            <a:endParaRPr lang="en-US" altLang="zh-CN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</a:endParaRPr>
          </a:p>
        </p:txBody>
      </p:sp>
      <p:sp>
        <p:nvSpPr>
          <p:cNvPr id="72" name="圆角矩形 71"/>
          <p:cNvSpPr/>
          <p:nvPr/>
        </p:nvSpPr>
        <p:spPr>
          <a:xfrm>
            <a:off x="6192520" y="4729480"/>
            <a:ext cx="1244600" cy="49403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3" name="文本框 72"/>
          <p:cNvSpPr txBox="1"/>
          <p:nvPr/>
        </p:nvSpPr>
        <p:spPr>
          <a:xfrm>
            <a:off x="6238240" y="4788535"/>
            <a:ext cx="1198880" cy="428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 b="1"/>
              <a:t>西服、西装、衣服、外套</a:t>
            </a:r>
            <a:r>
              <a:rPr lang="en-US" altLang="zh-CN" sz="900" b="1"/>
              <a:t> …</a:t>
            </a:r>
            <a:endParaRPr lang="en-US" altLang="zh-CN" sz="900" b="1"/>
          </a:p>
        </p:txBody>
      </p:sp>
      <p:sp>
        <p:nvSpPr>
          <p:cNvPr id="74" name="文本框 73"/>
          <p:cNvSpPr txBox="1"/>
          <p:nvPr/>
        </p:nvSpPr>
        <p:spPr>
          <a:xfrm>
            <a:off x="6238240" y="5556250"/>
            <a:ext cx="1198880" cy="428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 b="1"/>
              <a:t>黑色西装、西服、外套</a:t>
            </a:r>
            <a:r>
              <a:rPr lang="en-US" altLang="zh-CN" sz="900" b="1"/>
              <a:t> …</a:t>
            </a:r>
            <a:endParaRPr lang="en-US" altLang="zh-CN" sz="900" b="1"/>
          </a:p>
        </p:txBody>
      </p:sp>
      <p:sp>
        <p:nvSpPr>
          <p:cNvPr id="92" name="流程图: 过程 91"/>
          <p:cNvSpPr/>
          <p:nvPr/>
        </p:nvSpPr>
        <p:spPr>
          <a:xfrm>
            <a:off x="7920990" y="1888490"/>
            <a:ext cx="3428365" cy="2198370"/>
          </a:xfrm>
          <a:prstGeom prst="flowChartProcess">
            <a:avLst/>
          </a:prstGeom>
          <a:solidFill>
            <a:schemeClr val="bg1"/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3" name="同侧圆角矩形 92"/>
          <p:cNvSpPr/>
          <p:nvPr/>
        </p:nvSpPr>
        <p:spPr>
          <a:xfrm>
            <a:off x="7916545" y="1428115"/>
            <a:ext cx="3438525" cy="462280"/>
          </a:xfrm>
          <a:prstGeom prst="round2Same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b="1"/>
              <a:t>Task 3 Referring Expression Generation</a:t>
            </a:r>
            <a:endParaRPr lang="en-US" altLang="zh-CN" sz="1200" b="1"/>
          </a:p>
        </p:txBody>
      </p:sp>
      <p:sp>
        <p:nvSpPr>
          <p:cNvPr id="96" name="右箭头 95"/>
          <p:cNvSpPr/>
          <p:nvPr/>
        </p:nvSpPr>
        <p:spPr>
          <a:xfrm>
            <a:off x="9315450" y="2839085"/>
            <a:ext cx="201930" cy="158750"/>
          </a:xfrm>
          <a:prstGeom prst="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9" name="文本框 98"/>
          <p:cNvSpPr txBox="1"/>
          <p:nvPr/>
        </p:nvSpPr>
        <p:spPr>
          <a:xfrm>
            <a:off x="5346065" y="1710055"/>
            <a:ext cx="1216025" cy="329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000" b="1"/>
              <a:t>Visual Stimulus</a:t>
            </a:r>
            <a:endParaRPr lang="en-US" altLang="zh-CN" sz="1000" b="1"/>
          </a:p>
        </p:txBody>
      </p:sp>
      <p:sp>
        <p:nvSpPr>
          <p:cNvPr id="101" name="流程图: 可选过程 100"/>
          <p:cNvSpPr/>
          <p:nvPr/>
        </p:nvSpPr>
        <p:spPr>
          <a:xfrm>
            <a:off x="7999095" y="2695575"/>
            <a:ext cx="1259205" cy="424815"/>
          </a:xfrm>
          <a:prstGeom prst="flowChartAlternateProcess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这是一</a:t>
            </a:r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_____</a:t>
            </a:r>
            <a:endParaRPr lang="en-US" altLang="zh-CN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</a:endParaRPr>
          </a:p>
        </p:txBody>
      </p:sp>
      <p:sp>
        <p:nvSpPr>
          <p:cNvPr id="102" name="圆角矩形 101"/>
          <p:cNvSpPr/>
          <p:nvPr/>
        </p:nvSpPr>
        <p:spPr>
          <a:xfrm>
            <a:off x="9559290" y="2226310"/>
            <a:ext cx="1633220" cy="137922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3" name="文本框 102"/>
          <p:cNvSpPr txBox="1"/>
          <p:nvPr/>
        </p:nvSpPr>
        <p:spPr>
          <a:xfrm>
            <a:off x="9710420" y="2331720"/>
            <a:ext cx="1339850" cy="11436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900" b="1"/>
              <a:t>套</a:t>
            </a:r>
            <a:r>
              <a:rPr lang="zh-CN" altLang="en-US" sz="900" b="1"/>
              <a:t>西服</a:t>
            </a: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900" b="1"/>
              <a:t>身</a:t>
            </a:r>
            <a:r>
              <a:rPr lang="zh-CN" altLang="en-US" sz="900" b="1"/>
              <a:t>西装</a:t>
            </a: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900" b="1"/>
              <a:t>套黑色的</a:t>
            </a:r>
            <a:r>
              <a:rPr lang="zh-CN" altLang="en-US" sz="900" b="1"/>
              <a:t>西服</a:t>
            </a: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900" b="1"/>
              <a:t>件黑色的</a:t>
            </a:r>
            <a:r>
              <a:rPr lang="zh-CN" altLang="en-US" sz="900" b="1"/>
              <a:t>衣服</a:t>
            </a: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900" b="1"/>
          </a:p>
        </p:txBody>
      </p:sp>
      <p:pic>
        <p:nvPicPr>
          <p:cNvPr id="5" name="图片 4" descr="free_1845057_2358638_1845057_sui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9890" y="1963420"/>
            <a:ext cx="968375" cy="1324610"/>
          </a:xfrm>
          <a:prstGeom prst="rect">
            <a:avLst/>
          </a:prstGeom>
        </p:spPr>
      </p:pic>
      <p:pic>
        <p:nvPicPr>
          <p:cNvPr id="3" name="图片 2" descr="LL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110" y="137795"/>
            <a:ext cx="986155" cy="986155"/>
          </a:xfrm>
          <a:prstGeom prst="rect">
            <a:avLst/>
          </a:prstGeom>
        </p:spPr>
      </p:pic>
      <p:sp>
        <p:nvSpPr>
          <p:cNvPr id="9" name="下箭头标注 8"/>
          <p:cNvSpPr/>
          <p:nvPr/>
        </p:nvSpPr>
        <p:spPr>
          <a:xfrm>
            <a:off x="5608955" y="1167130"/>
            <a:ext cx="670560" cy="499745"/>
          </a:xfrm>
          <a:prstGeom prst="downArrowCallou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 b="1"/>
              <a:t>Recognize</a:t>
            </a:r>
            <a:endParaRPr lang="en-US" altLang="zh-CN" sz="900" b="1"/>
          </a:p>
        </p:txBody>
      </p:sp>
      <p:sp>
        <p:nvSpPr>
          <p:cNvPr id="10" name="下箭头标注 9"/>
          <p:cNvSpPr/>
          <p:nvPr/>
        </p:nvSpPr>
        <p:spPr>
          <a:xfrm rot="16200000">
            <a:off x="6625590" y="2406015"/>
            <a:ext cx="703580" cy="480060"/>
          </a:xfrm>
          <a:prstGeom prst="downArrowCallout">
            <a:avLst/>
          </a:prstGeom>
          <a:solidFill>
            <a:srgbClr val="843F0B"/>
          </a:solidFill>
          <a:ln>
            <a:solidFill>
              <a:srgbClr val="843F0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 b="1"/>
              <a:t>answer</a:t>
            </a:r>
            <a:endParaRPr lang="en-US" altLang="zh-CN" sz="900" b="1"/>
          </a:p>
        </p:txBody>
      </p:sp>
      <p:sp>
        <p:nvSpPr>
          <p:cNvPr id="15" name="下箭头标注 14"/>
          <p:cNvSpPr/>
          <p:nvPr/>
        </p:nvSpPr>
        <p:spPr>
          <a:xfrm rot="5400000">
            <a:off x="4578985" y="2406015"/>
            <a:ext cx="703580" cy="480060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 b="1"/>
              <a:t>answer</a:t>
            </a:r>
            <a:endParaRPr lang="en-US" altLang="zh-CN" sz="900" b="1"/>
          </a:p>
        </p:txBody>
      </p:sp>
      <p:sp>
        <p:nvSpPr>
          <p:cNvPr id="16" name="下箭头标注 15"/>
          <p:cNvSpPr/>
          <p:nvPr/>
        </p:nvSpPr>
        <p:spPr>
          <a:xfrm>
            <a:off x="5607050" y="3390265"/>
            <a:ext cx="703580" cy="480060"/>
          </a:xfrm>
          <a:prstGeom prst="downArrowCallou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 b="1"/>
              <a:t>answer</a:t>
            </a:r>
            <a:endParaRPr lang="en-US" altLang="zh-CN" sz="900"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4" name="流程图: 过程 43"/>
          <p:cNvSpPr/>
          <p:nvPr/>
        </p:nvSpPr>
        <p:spPr>
          <a:xfrm>
            <a:off x="4254500" y="4342130"/>
            <a:ext cx="3363595" cy="2303145"/>
          </a:xfrm>
          <a:prstGeom prst="flowChartProcess">
            <a:avLst/>
          </a:prstGeom>
          <a:solidFill>
            <a:schemeClr val="bg1"/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圆角矩形 1"/>
          <p:cNvSpPr/>
          <p:nvPr/>
        </p:nvSpPr>
        <p:spPr>
          <a:xfrm>
            <a:off x="6192520" y="5532120"/>
            <a:ext cx="1244600" cy="49403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流程图: 过程 5"/>
          <p:cNvSpPr/>
          <p:nvPr/>
        </p:nvSpPr>
        <p:spPr>
          <a:xfrm>
            <a:off x="459105" y="4417695"/>
            <a:ext cx="3405505" cy="2225675"/>
          </a:xfrm>
          <a:prstGeom prst="flowChartProcess">
            <a:avLst/>
          </a:prstGeom>
          <a:solidFill>
            <a:schemeClr val="bg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同侧圆角矩形 6"/>
          <p:cNvSpPr/>
          <p:nvPr/>
        </p:nvSpPr>
        <p:spPr>
          <a:xfrm>
            <a:off x="457835" y="3986530"/>
            <a:ext cx="3407410" cy="428625"/>
          </a:xfrm>
          <a:prstGeom prst="round2Same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b="1"/>
              <a:t>Task 1 Chassifier Choice</a:t>
            </a:r>
            <a:r>
              <a:rPr lang="en-US" altLang="zh-CN"/>
              <a:t> </a:t>
            </a:r>
            <a:endParaRPr lang="zh-CN" altLang="en-US"/>
          </a:p>
        </p:txBody>
      </p:sp>
      <p:sp>
        <p:nvSpPr>
          <p:cNvPr id="13" name="流程图: 可选过程 12"/>
          <p:cNvSpPr/>
          <p:nvPr/>
        </p:nvSpPr>
        <p:spPr>
          <a:xfrm>
            <a:off x="574675" y="5335270"/>
            <a:ext cx="1095375" cy="377190"/>
          </a:xfrm>
          <a:prstGeom prst="flowChartAlternateProcess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Basic</a:t>
            </a:r>
            <a:endParaRPr lang="en-US" altLang="zh-CN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  <a:sym typeface="+mn-ea"/>
            </a:endParaRPr>
          </a:p>
          <a:p>
            <a:pPr algn="ctr"/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一</a:t>
            </a:r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___</a:t>
            </a:r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外套</a:t>
            </a:r>
            <a:endParaRPr lang="zh-CN" altLang="en-US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  <a:sym typeface="+mn-ea"/>
            </a:endParaRPr>
          </a:p>
        </p:txBody>
      </p:sp>
      <p:sp>
        <p:nvSpPr>
          <p:cNvPr id="18" name="流程图: 过程 17"/>
          <p:cNvSpPr/>
          <p:nvPr/>
        </p:nvSpPr>
        <p:spPr>
          <a:xfrm>
            <a:off x="2265680" y="4714875"/>
            <a:ext cx="1074420" cy="245745"/>
          </a:xfrm>
          <a:prstGeom prst="flowChartProcess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流程图: 过程 19"/>
          <p:cNvSpPr/>
          <p:nvPr/>
        </p:nvSpPr>
        <p:spPr>
          <a:xfrm>
            <a:off x="2265680" y="5229860"/>
            <a:ext cx="630555" cy="245745"/>
          </a:xfrm>
          <a:prstGeom prst="flowChartProcess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流程图: 过程 20"/>
          <p:cNvSpPr/>
          <p:nvPr/>
        </p:nvSpPr>
        <p:spPr>
          <a:xfrm>
            <a:off x="2265680" y="5657215"/>
            <a:ext cx="219075" cy="265430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流程图: 过程 21"/>
          <p:cNvSpPr/>
          <p:nvPr/>
        </p:nvSpPr>
        <p:spPr>
          <a:xfrm>
            <a:off x="2265680" y="6104255"/>
            <a:ext cx="81280" cy="277495"/>
          </a:xfrm>
          <a:prstGeom prst="flowChartProcess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右箭头 23"/>
          <p:cNvSpPr/>
          <p:nvPr/>
        </p:nvSpPr>
        <p:spPr>
          <a:xfrm>
            <a:off x="1736090" y="5475605"/>
            <a:ext cx="208280" cy="1587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流程图: 可选过程 30"/>
          <p:cNvSpPr/>
          <p:nvPr/>
        </p:nvSpPr>
        <p:spPr>
          <a:xfrm>
            <a:off x="590550" y="4747260"/>
            <a:ext cx="1096010" cy="377190"/>
          </a:xfrm>
          <a:prstGeom prst="flowChartAlternateProcess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Superordinate</a:t>
            </a:r>
            <a:endParaRPr lang="zh-CN" altLang="en-US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</a:endParaRPr>
          </a:p>
          <a:p>
            <a:pPr algn="ctr"/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一</a:t>
            </a:r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___</a:t>
            </a:r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衣服</a:t>
            </a:r>
            <a:endParaRPr lang="zh-CN" altLang="en-US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</a:endParaRPr>
          </a:p>
        </p:txBody>
      </p:sp>
      <p:sp>
        <p:nvSpPr>
          <p:cNvPr id="32" name="流程图: 可选过程 31"/>
          <p:cNvSpPr/>
          <p:nvPr/>
        </p:nvSpPr>
        <p:spPr>
          <a:xfrm>
            <a:off x="590550" y="5922645"/>
            <a:ext cx="1095375" cy="377190"/>
          </a:xfrm>
          <a:prstGeom prst="flowChartAlternateProcess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Subordinate</a:t>
            </a:r>
            <a:endParaRPr lang="en-US" altLang="zh-CN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  <a:sym typeface="+mn-ea"/>
            </a:endParaRPr>
          </a:p>
          <a:p>
            <a:pPr algn="ctr"/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一</a:t>
            </a:r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___</a:t>
            </a:r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  <a:sym typeface="+mn-ea"/>
              </a:rPr>
              <a:t>西装</a:t>
            </a:r>
            <a:endParaRPr lang="zh-CN" altLang="en-US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  <a:sym typeface="+mn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1944370" y="4747260"/>
            <a:ext cx="204470" cy="222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000" b="1"/>
              <a:t>套</a:t>
            </a:r>
            <a:endParaRPr lang="zh-CN" altLang="en-US" sz="1000" b="1"/>
          </a:p>
        </p:txBody>
      </p:sp>
      <p:sp>
        <p:nvSpPr>
          <p:cNvPr id="37" name="文本框 36"/>
          <p:cNvSpPr txBox="1"/>
          <p:nvPr/>
        </p:nvSpPr>
        <p:spPr>
          <a:xfrm>
            <a:off x="1944370" y="5229860"/>
            <a:ext cx="204470" cy="222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000" b="1"/>
              <a:t>件</a:t>
            </a:r>
            <a:endParaRPr lang="zh-CN" altLang="en-US" sz="1000" b="1"/>
          </a:p>
        </p:txBody>
      </p:sp>
      <p:sp>
        <p:nvSpPr>
          <p:cNvPr id="38" name="文本框 37"/>
          <p:cNvSpPr txBox="1"/>
          <p:nvPr/>
        </p:nvSpPr>
        <p:spPr>
          <a:xfrm>
            <a:off x="1944370" y="5657215"/>
            <a:ext cx="204470" cy="222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000" b="1"/>
              <a:t>个</a:t>
            </a:r>
            <a:endParaRPr lang="zh-CN" altLang="en-US" sz="1000" b="1"/>
          </a:p>
        </p:txBody>
      </p:sp>
      <p:sp>
        <p:nvSpPr>
          <p:cNvPr id="39" name="文本框 38"/>
          <p:cNvSpPr txBox="1"/>
          <p:nvPr/>
        </p:nvSpPr>
        <p:spPr>
          <a:xfrm>
            <a:off x="1736090" y="6119495"/>
            <a:ext cx="631190" cy="2584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000" b="1"/>
              <a:t>其他</a:t>
            </a:r>
            <a:endParaRPr lang="zh-CN" altLang="en-US" sz="1000" b="1"/>
          </a:p>
        </p:txBody>
      </p:sp>
      <p:sp>
        <p:nvSpPr>
          <p:cNvPr id="40" name="文本框 39"/>
          <p:cNvSpPr txBox="1"/>
          <p:nvPr/>
        </p:nvSpPr>
        <p:spPr>
          <a:xfrm>
            <a:off x="3340100" y="4714875"/>
            <a:ext cx="462915" cy="245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/>
              <a:t>60%</a:t>
            </a:r>
            <a:endParaRPr lang="en-US" altLang="zh-CN" sz="1000" b="1"/>
          </a:p>
        </p:txBody>
      </p:sp>
      <p:sp>
        <p:nvSpPr>
          <p:cNvPr id="41" name="文本框 40"/>
          <p:cNvSpPr txBox="1"/>
          <p:nvPr/>
        </p:nvSpPr>
        <p:spPr>
          <a:xfrm>
            <a:off x="3340100" y="5222240"/>
            <a:ext cx="462915" cy="245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/>
              <a:t>30%</a:t>
            </a:r>
            <a:endParaRPr lang="en-US" altLang="zh-CN" sz="1000" b="1"/>
          </a:p>
        </p:txBody>
      </p:sp>
      <p:sp>
        <p:nvSpPr>
          <p:cNvPr id="42" name="文本框 41"/>
          <p:cNvSpPr txBox="1"/>
          <p:nvPr/>
        </p:nvSpPr>
        <p:spPr>
          <a:xfrm>
            <a:off x="3340100" y="5647055"/>
            <a:ext cx="462915" cy="245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/>
              <a:t>8%</a:t>
            </a:r>
            <a:endParaRPr lang="en-US" altLang="zh-CN" sz="1000" b="1"/>
          </a:p>
        </p:txBody>
      </p:sp>
      <p:sp>
        <p:nvSpPr>
          <p:cNvPr id="43" name="文本框 42"/>
          <p:cNvSpPr txBox="1"/>
          <p:nvPr/>
        </p:nvSpPr>
        <p:spPr>
          <a:xfrm>
            <a:off x="3340100" y="6108065"/>
            <a:ext cx="462915" cy="245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/>
              <a:t>2%</a:t>
            </a:r>
            <a:endParaRPr lang="en-US" altLang="zh-CN" sz="1000" b="1"/>
          </a:p>
        </p:txBody>
      </p:sp>
      <p:sp>
        <p:nvSpPr>
          <p:cNvPr id="45" name="同侧圆角矩形 44"/>
          <p:cNvSpPr/>
          <p:nvPr/>
        </p:nvSpPr>
        <p:spPr>
          <a:xfrm>
            <a:off x="4254500" y="3986530"/>
            <a:ext cx="3363595" cy="428625"/>
          </a:xfrm>
          <a:prstGeom prst="round2Same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b="1"/>
              <a:t>Task 2 Head Noun Completion</a:t>
            </a:r>
            <a:r>
              <a:rPr lang="en-US" altLang="zh-CN"/>
              <a:t> </a:t>
            </a:r>
            <a:endParaRPr lang="zh-CN" altLang="en-US"/>
          </a:p>
        </p:txBody>
      </p:sp>
      <p:sp>
        <p:nvSpPr>
          <p:cNvPr id="53" name="右箭头 52"/>
          <p:cNvSpPr/>
          <p:nvPr/>
        </p:nvSpPr>
        <p:spPr>
          <a:xfrm>
            <a:off x="5836920" y="5317490"/>
            <a:ext cx="199390" cy="158750"/>
          </a:xfrm>
          <a:prstGeom prst="right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7" name="流程图: 可选过程 56"/>
          <p:cNvSpPr/>
          <p:nvPr/>
        </p:nvSpPr>
        <p:spPr>
          <a:xfrm>
            <a:off x="4704080" y="4788535"/>
            <a:ext cx="1053465" cy="434975"/>
          </a:xfrm>
          <a:prstGeom prst="flowChartAlternateProcess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这是一个</a:t>
            </a:r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 _____</a:t>
            </a:r>
            <a:endParaRPr lang="en-US" altLang="zh-CN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</a:endParaRPr>
          </a:p>
        </p:txBody>
      </p:sp>
      <p:sp>
        <p:nvSpPr>
          <p:cNvPr id="69" name="流程图: 可选过程 68"/>
          <p:cNvSpPr/>
          <p:nvPr/>
        </p:nvSpPr>
        <p:spPr>
          <a:xfrm>
            <a:off x="4704080" y="5579110"/>
            <a:ext cx="1053465" cy="434975"/>
          </a:xfrm>
          <a:prstGeom prst="flowChartAlternateProcess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这是一件</a:t>
            </a:r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 _____</a:t>
            </a:r>
            <a:endParaRPr lang="en-US" altLang="zh-CN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</a:endParaRPr>
          </a:p>
        </p:txBody>
      </p:sp>
      <p:sp>
        <p:nvSpPr>
          <p:cNvPr id="72" name="圆角矩形 71"/>
          <p:cNvSpPr/>
          <p:nvPr/>
        </p:nvSpPr>
        <p:spPr>
          <a:xfrm>
            <a:off x="6192520" y="4729480"/>
            <a:ext cx="1244600" cy="49403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3" name="文本框 72"/>
          <p:cNvSpPr txBox="1"/>
          <p:nvPr/>
        </p:nvSpPr>
        <p:spPr>
          <a:xfrm>
            <a:off x="6238240" y="4788535"/>
            <a:ext cx="1198880" cy="428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 b="1"/>
              <a:t>西服、西装、衣服、外套</a:t>
            </a:r>
            <a:r>
              <a:rPr lang="en-US" altLang="zh-CN" sz="900" b="1"/>
              <a:t> …</a:t>
            </a:r>
            <a:endParaRPr lang="en-US" altLang="zh-CN" sz="900" b="1"/>
          </a:p>
        </p:txBody>
      </p:sp>
      <p:sp>
        <p:nvSpPr>
          <p:cNvPr id="74" name="文本框 73"/>
          <p:cNvSpPr txBox="1"/>
          <p:nvPr/>
        </p:nvSpPr>
        <p:spPr>
          <a:xfrm>
            <a:off x="6238240" y="5556250"/>
            <a:ext cx="1198880" cy="428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 b="1"/>
              <a:t>黑色西装、西服、外套</a:t>
            </a:r>
            <a:r>
              <a:rPr lang="en-US" altLang="zh-CN" sz="900" b="1"/>
              <a:t> …</a:t>
            </a:r>
            <a:endParaRPr lang="en-US" altLang="zh-CN" sz="900" b="1"/>
          </a:p>
        </p:txBody>
      </p:sp>
      <p:sp>
        <p:nvSpPr>
          <p:cNvPr id="92" name="流程图: 过程 91"/>
          <p:cNvSpPr/>
          <p:nvPr/>
        </p:nvSpPr>
        <p:spPr>
          <a:xfrm>
            <a:off x="8008620" y="4446905"/>
            <a:ext cx="3428365" cy="2198370"/>
          </a:xfrm>
          <a:prstGeom prst="flowChartProcess">
            <a:avLst/>
          </a:prstGeom>
          <a:solidFill>
            <a:schemeClr val="bg1"/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3" name="同侧圆角矩形 92"/>
          <p:cNvSpPr/>
          <p:nvPr/>
        </p:nvSpPr>
        <p:spPr>
          <a:xfrm>
            <a:off x="8004175" y="3986530"/>
            <a:ext cx="3438525" cy="462280"/>
          </a:xfrm>
          <a:prstGeom prst="round2Same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b="1"/>
              <a:t>Task 3 Referring Expression Generation</a:t>
            </a:r>
            <a:endParaRPr lang="en-US" altLang="zh-CN" sz="1200" b="1"/>
          </a:p>
        </p:txBody>
      </p:sp>
      <p:sp>
        <p:nvSpPr>
          <p:cNvPr id="96" name="右箭头 95"/>
          <p:cNvSpPr/>
          <p:nvPr/>
        </p:nvSpPr>
        <p:spPr>
          <a:xfrm>
            <a:off x="9403080" y="5397500"/>
            <a:ext cx="201930" cy="158750"/>
          </a:xfrm>
          <a:prstGeom prst="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9" name="文本框 98"/>
          <p:cNvSpPr txBox="1"/>
          <p:nvPr/>
        </p:nvSpPr>
        <p:spPr>
          <a:xfrm>
            <a:off x="5328285" y="1786255"/>
            <a:ext cx="1216025" cy="329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000" b="1"/>
              <a:t>Visual Stimulus</a:t>
            </a:r>
            <a:endParaRPr lang="en-US" altLang="zh-CN" sz="1000" b="1"/>
          </a:p>
        </p:txBody>
      </p:sp>
      <p:sp>
        <p:nvSpPr>
          <p:cNvPr id="101" name="流程图: 可选过程 100"/>
          <p:cNvSpPr/>
          <p:nvPr/>
        </p:nvSpPr>
        <p:spPr>
          <a:xfrm>
            <a:off x="8086725" y="5253990"/>
            <a:ext cx="1259205" cy="424815"/>
          </a:xfrm>
          <a:prstGeom prst="flowChartAlternateProcess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这是一</a:t>
            </a:r>
            <a:r>
              <a:rPr lang="en-US" altLang="zh-CN" sz="900" b="1">
                <a:solidFill>
                  <a:schemeClr val="tx1"/>
                </a:solidFill>
                <a:latin typeface="Calibri" panose="020F0502020204030204" charset="0"/>
                <a:ea typeface="微软雅黑" panose="020B0503020204020204" charset="-122"/>
                <a:cs typeface="Calibri" panose="020F0502020204030204" charset="0"/>
              </a:rPr>
              <a:t>_____</a:t>
            </a:r>
            <a:endParaRPr lang="en-US" altLang="zh-CN" sz="900" b="1">
              <a:solidFill>
                <a:schemeClr val="tx1"/>
              </a:solidFill>
              <a:latin typeface="Calibri" panose="020F0502020204030204" charset="0"/>
              <a:ea typeface="微软雅黑" panose="020B0503020204020204" charset="-122"/>
              <a:cs typeface="Calibri" panose="020F0502020204030204" charset="0"/>
            </a:endParaRPr>
          </a:p>
        </p:txBody>
      </p:sp>
      <p:sp>
        <p:nvSpPr>
          <p:cNvPr id="102" name="圆角矩形 101"/>
          <p:cNvSpPr/>
          <p:nvPr/>
        </p:nvSpPr>
        <p:spPr>
          <a:xfrm>
            <a:off x="9646920" y="4784725"/>
            <a:ext cx="1633220" cy="137922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3" name="文本框 102"/>
          <p:cNvSpPr txBox="1"/>
          <p:nvPr/>
        </p:nvSpPr>
        <p:spPr>
          <a:xfrm>
            <a:off x="9798050" y="4890135"/>
            <a:ext cx="1339850" cy="11436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900" b="1"/>
              <a:t>套</a:t>
            </a:r>
            <a:r>
              <a:rPr lang="zh-CN" altLang="en-US" sz="900" b="1"/>
              <a:t>西服</a:t>
            </a: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900" b="1"/>
              <a:t>身</a:t>
            </a:r>
            <a:r>
              <a:rPr lang="zh-CN" altLang="en-US" sz="900" b="1"/>
              <a:t>西装</a:t>
            </a: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900" b="1"/>
              <a:t>套黑色的</a:t>
            </a:r>
            <a:r>
              <a:rPr lang="zh-CN" altLang="en-US" sz="900" b="1"/>
              <a:t>西服</a:t>
            </a: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900" b="1"/>
              <a:t>件黑色的</a:t>
            </a:r>
            <a:r>
              <a:rPr lang="zh-CN" altLang="en-US" sz="900" b="1"/>
              <a:t>衣服</a:t>
            </a: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900" b="1"/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900" b="1"/>
          </a:p>
        </p:txBody>
      </p:sp>
      <p:pic>
        <p:nvPicPr>
          <p:cNvPr id="5" name="图片 4" descr="free_1845057_2358638_1845057_sui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2110" y="2039620"/>
            <a:ext cx="968375" cy="1324610"/>
          </a:xfrm>
          <a:prstGeom prst="rect">
            <a:avLst/>
          </a:prstGeom>
        </p:spPr>
      </p:pic>
      <p:pic>
        <p:nvPicPr>
          <p:cNvPr id="3" name="图片 2" descr="LL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110" y="223520"/>
            <a:ext cx="986155" cy="986155"/>
          </a:xfrm>
          <a:prstGeom prst="rect">
            <a:avLst/>
          </a:prstGeom>
        </p:spPr>
      </p:pic>
      <p:sp>
        <p:nvSpPr>
          <p:cNvPr id="9" name="下箭头标注 8"/>
          <p:cNvSpPr/>
          <p:nvPr/>
        </p:nvSpPr>
        <p:spPr>
          <a:xfrm>
            <a:off x="5601335" y="1209675"/>
            <a:ext cx="670560" cy="499745"/>
          </a:xfrm>
          <a:prstGeom prst="downArrowCallou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 b="1"/>
              <a:t>Recognize</a:t>
            </a:r>
            <a:endParaRPr lang="en-US" altLang="zh-CN" sz="900" b="1"/>
          </a:p>
        </p:txBody>
      </p:sp>
      <p:cxnSp>
        <p:nvCxnSpPr>
          <p:cNvPr id="8" name="直接箭头连接符 7"/>
          <p:cNvCxnSpPr>
            <a:stCxn id="5" idx="2"/>
            <a:endCxn id="7" idx="3"/>
          </p:cNvCxnSpPr>
          <p:nvPr/>
        </p:nvCxnSpPr>
        <p:spPr>
          <a:xfrm flipH="1">
            <a:off x="2161540" y="3364230"/>
            <a:ext cx="3775075" cy="6223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箭头连接符 11"/>
          <p:cNvCxnSpPr>
            <a:stCxn id="5" idx="2"/>
            <a:endCxn id="93" idx="3"/>
          </p:cNvCxnSpPr>
          <p:nvPr/>
        </p:nvCxnSpPr>
        <p:spPr>
          <a:xfrm>
            <a:off x="5936615" y="3364230"/>
            <a:ext cx="3787140" cy="6223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>
            <a:stCxn id="5" idx="2"/>
            <a:endCxn id="45" idx="3"/>
          </p:cNvCxnSpPr>
          <p:nvPr/>
        </p:nvCxnSpPr>
        <p:spPr>
          <a:xfrm>
            <a:off x="5936615" y="3364230"/>
            <a:ext cx="0" cy="6223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</a:spPr>
      <a:bodyPr rtlCol="0" anchor="ctr"/>
      <a:lstStyle>
        <a:defPPr algn="ctr">
          <a:defRPr lang="en-US" altLang="zh-CN" sz="900" b="1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514</Words>
  <Application>WPS 演示</Application>
  <PresentationFormat>宽屏</PresentationFormat>
  <Paragraphs>118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Arial</vt:lpstr>
      <vt:lpstr>宋体</vt:lpstr>
      <vt:lpstr>Wingdings</vt:lpstr>
      <vt:lpstr>Calibri</vt:lpstr>
      <vt:lpstr>微软雅黑</vt:lpstr>
      <vt:lpstr>Wingdings</vt:lpstr>
      <vt:lpstr>Arial Unicode MS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PengYongHeng</dc:creator>
  <cp:lastModifiedBy>彭永恒</cp:lastModifiedBy>
  <cp:revision>20</cp:revision>
  <dcterms:created xsi:type="dcterms:W3CDTF">2026-05-15T15:58:00Z</dcterms:created>
  <dcterms:modified xsi:type="dcterms:W3CDTF">2026-05-23T06:55:24Z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1B171500154A44D59DF8595EB5DC267C_13</vt:lpwstr>
  </property>
</Properties>
</file>